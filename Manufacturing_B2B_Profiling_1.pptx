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2.xml"/>
  <Override ContentType="application/vnd.openxmlformats-officedocument.drawingml.chart+xml" PartName="/ppt/charts/chart1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jPcLohekVFLl3QFE1rq3tlzLYHu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6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Profiles</c:v>
                </c:pt>
              </c:strCache>
            </c:strRef>
          </c:tx>
          <c:spPr>
            <a:solidFill>
              <a:srgbClr val="4A6FA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D2A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CXO / C-Suite</c:v>
                  </c:pt>
                  <c:pt idx="1">
                    <c:v>VP / Vice President</c:v>
                  </c:pt>
                  <c:pt idx="2">
                    <c:v>Head of Function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560</c:v>
                </c:pt>
                <c:pt idx="1">
                  <c:v>840</c:v>
                </c:pt>
                <c:pt idx="2">
                  <c:v>1400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1D2A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B8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Accounts</c:v>
                </c:pt>
              </c:strCache>
            </c:strRef>
          </c:tx>
          <c:spPr>
            <a:solidFill>
              <a:srgbClr val="E8630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D2A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200–500 Employees</c:v>
                  </c:pt>
                  <c:pt idx="1">
                    <c:v>501–1,000 Employees</c:v>
                  </c:pt>
                  <c:pt idx="2">
                    <c:v>1,001–2,500 Employees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315</c:v>
                </c:pt>
                <c:pt idx="1">
                  <c:v>245</c:v>
                </c:pt>
                <c:pt idx="2">
                  <c:v>140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1D2A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B8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" name="Google Shape;3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9" name="Google Shape;16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" name="Google Shape;29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9" name="Google Shape;31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1.png"/><Relationship Id="rId6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5" Type="http://schemas.openxmlformats.org/officeDocument/2006/relationships/image" Target="../media/image12.png"/><Relationship Id="rId6" Type="http://schemas.openxmlformats.org/officeDocument/2006/relationships/image" Target="../media/image26.png"/><Relationship Id="rId7" Type="http://schemas.openxmlformats.org/officeDocument/2006/relationships/image" Target="../media/image13.png"/><Relationship Id="rId8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1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2.xml"/><Relationship Id="rId4" Type="http://schemas.openxmlformats.org/officeDocument/2006/relationships/image" Target="../media/image17.png"/><Relationship Id="rId5" Type="http://schemas.openxmlformats.org/officeDocument/2006/relationships/image" Target="../media/image12.png"/><Relationship Id="rId6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11.png"/><Relationship Id="rId9" Type="http://schemas.openxmlformats.org/officeDocument/2006/relationships/image" Target="../media/image28.png"/><Relationship Id="rId5" Type="http://schemas.openxmlformats.org/officeDocument/2006/relationships/image" Target="../media/image17.png"/><Relationship Id="rId6" Type="http://schemas.openxmlformats.org/officeDocument/2006/relationships/image" Target="../media/image9.png"/><Relationship Id="rId7" Type="http://schemas.openxmlformats.org/officeDocument/2006/relationships/image" Target="../media/image27.png"/><Relationship Id="rId8" Type="http://schemas.openxmlformats.org/officeDocument/2006/relationships/image" Target="../media/image1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9.png"/><Relationship Id="rId4" Type="http://schemas.openxmlformats.org/officeDocument/2006/relationships/image" Target="../media/image21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22.png"/><Relationship Id="rId5" Type="http://schemas.openxmlformats.org/officeDocument/2006/relationships/image" Target="../media/image24.png"/><Relationship Id="rId6" Type="http://schemas.openxmlformats.org/officeDocument/2006/relationships/image" Target="../media/image20.png"/><Relationship Id="rId7" Type="http://schemas.openxmlformats.org/officeDocument/2006/relationships/image" Target="../media/image2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B3A42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8778240" y="0"/>
            <a:ext cx="36576" cy="6858000"/>
          </a:xfrm>
          <a:prstGeom prst="rect">
            <a:avLst/>
          </a:prstGeom>
          <a:solidFill>
            <a:srgbClr val="E863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 txBox="1"/>
          <p:nvPr/>
        </p:nvSpPr>
        <p:spPr>
          <a:xfrm>
            <a:off x="640080" y="54864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630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8630A"/>
                </a:solidFill>
                <a:latin typeface="Calibri"/>
                <a:ea typeface="Calibri"/>
                <a:cs typeface="Calibri"/>
                <a:sym typeface="Calibri"/>
              </a:rPr>
              <a:t>B2B ACCOUNT PROFILING  |  PROJECT REPORT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 txBox="1"/>
          <p:nvPr/>
        </p:nvSpPr>
        <p:spPr>
          <a:xfrm>
            <a:off x="640080" y="914400"/>
            <a:ext cx="7772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Industrial Tech Conclave — Pune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 txBox="1"/>
          <p:nvPr/>
        </p:nvSpPr>
        <p:spPr>
          <a:xfrm>
            <a:off x="640080" y="2286000"/>
            <a:ext cx="685800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mbria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INDUSTRIAL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mbria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INTELLIGENCE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 txBox="1"/>
          <p:nvPr/>
        </p:nvSpPr>
        <p:spPr>
          <a:xfrm>
            <a:off x="640080" y="3931920"/>
            <a:ext cx="7589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AEC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E8EAEC"/>
                </a:solidFill>
                <a:latin typeface="Calibri"/>
                <a:ea typeface="Calibri"/>
                <a:cs typeface="Calibri"/>
                <a:sym typeface="Calibri"/>
              </a:rPr>
              <a:t>Mid-Market Manufacturing &amp; Industrial Automation Dataset — Pune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s/pin_orange.png" id="21" name="Google Shape;2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8368" y="4553712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1"/>
          <p:cNvSpPr txBox="1"/>
          <p:nvPr/>
        </p:nvSpPr>
        <p:spPr>
          <a:xfrm>
            <a:off x="960120" y="4526280"/>
            <a:ext cx="594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AE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8EAEC"/>
                </a:solidFill>
                <a:latin typeface="Calibri"/>
                <a:ea typeface="Calibri"/>
                <a:cs typeface="Calibri"/>
                <a:sym typeface="Calibri"/>
              </a:rPr>
              <a:t>Pune, India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s/building_orange.png" id="23" name="Google Shape;23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8368" y="4919472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1"/>
          <p:cNvSpPr txBox="1"/>
          <p:nvPr/>
        </p:nvSpPr>
        <p:spPr>
          <a:xfrm>
            <a:off x="960120" y="4892040"/>
            <a:ext cx="594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AE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8EAEC"/>
                </a:solidFill>
                <a:latin typeface="Calibri"/>
                <a:ea typeface="Calibri"/>
                <a:cs typeface="Calibri"/>
                <a:sym typeface="Calibri"/>
              </a:rPr>
              <a:t>Accounts Sized 200–1,000 Employees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s/bullseye_orange.png" id="25" name="Google Shape;25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8368" y="5285232"/>
            <a:ext cx="201168" cy="201168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1"/>
          <p:cNvSpPr txBox="1"/>
          <p:nvPr/>
        </p:nvSpPr>
        <p:spPr>
          <a:xfrm>
            <a:off x="960120" y="5257800"/>
            <a:ext cx="5943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AE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8EAEC"/>
                </a:solidFill>
                <a:latin typeface="Calibri"/>
                <a:ea typeface="Calibri"/>
                <a:cs typeface="Calibri"/>
                <a:sym typeface="Calibri"/>
              </a:rPr>
              <a:t>Procurement, Supply Chain &amp; Plant Ops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 txBox="1"/>
          <p:nvPr/>
        </p:nvSpPr>
        <p:spPr>
          <a:xfrm>
            <a:off x="640080" y="5532120"/>
            <a:ext cx="1737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630A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E8630A"/>
                </a:solidFill>
                <a:latin typeface="Cambria"/>
                <a:ea typeface="Cambria"/>
                <a:cs typeface="Cambria"/>
                <a:sym typeface="Cambria"/>
              </a:rPr>
              <a:t>700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 txBox="1"/>
          <p:nvPr/>
        </p:nvSpPr>
        <p:spPr>
          <a:xfrm>
            <a:off x="640080" y="6053328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8EAE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8EAEC"/>
                </a:solidFill>
                <a:latin typeface="Calibri"/>
                <a:ea typeface="Calibri"/>
                <a:cs typeface="Calibri"/>
                <a:sym typeface="Calibri"/>
              </a:rPr>
              <a:t>Target Accounts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8EAE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8EAEC"/>
                </a:solidFill>
                <a:latin typeface="Calibri"/>
                <a:ea typeface="Calibri"/>
                <a:cs typeface="Calibri"/>
                <a:sym typeface="Calibri"/>
              </a:rPr>
              <a:t>(Companies)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 txBox="1"/>
          <p:nvPr/>
        </p:nvSpPr>
        <p:spPr>
          <a:xfrm>
            <a:off x="2468880" y="5532120"/>
            <a:ext cx="2011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630A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E8630A"/>
                </a:solidFill>
                <a:latin typeface="Cambria"/>
                <a:ea typeface="Cambria"/>
                <a:cs typeface="Cambria"/>
                <a:sym typeface="Cambria"/>
              </a:rPr>
              <a:t>2,800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 txBox="1"/>
          <p:nvPr/>
        </p:nvSpPr>
        <p:spPr>
          <a:xfrm>
            <a:off x="2468880" y="6053328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8EAE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8EAEC"/>
                </a:solidFill>
                <a:latin typeface="Calibri"/>
                <a:ea typeface="Calibri"/>
                <a:cs typeface="Calibri"/>
                <a:sym typeface="Calibri"/>
              </a:rPr>
              <a:t>Verified Contacts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E8EAE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8EAEC"/>
                </a:solidFill>
                <a:latin typeface="Calibri"/>
                <a:ea typeface="Calibri"/>
                <a:cs typeface="Calibri"/>
                <a:sym typeface="Calibri"/>
              </a:rPr>
              <a:t>(Head Level &amp; Above)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 txBox="1"/>
          <p:nvPr/>
        </p:nvSpPr>
        <p:spPr>
          <a:xfrm>
            <a:off x="8138160" y="640080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B8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B86"/>
                </a:solidFill>
                <a:latin typeface="Calibri"/>
                <a:ea typeface="Calibri"/>
                <a:cs typeface="Calibri"/>
                <a:sym typeface="Calibri"/>
              </a:rPr>
              <a:t>Prepared by: [</a:t>
            </a:r>
            <a:r>
              <a:rPr lang="en-US" sz="900">
                <a:solidFill>
                  <a:srgbClr val="6B7B86"/>
                </a:solidFill>
                <a:latin typeface="Calibri"/>
                <a:ea typeface="Calibri"/>
                <a:cs typeface="Calibri"/>
                <a:sym typeface="Calibri"/>
              </a:rPr>
              <a:t>Niraj Pawar</a:t>
            </a:r>
            <a:r>
              <a:rPr b="0" i="0" lang="en-US" sz="900" u="none" cap="none" strike="noStrike">
                <a:solidFill>
                  <a:srgbClr val="6B7B86"/>
                </a:solidFill>
                <a:latin typeface="Calibri"/>
                <a:ea typeface="Calibri"/>
                <a:cs typeface="Calibri"/>
                <a:sym typeface="Calibri"/>
              </a:rPr>
              <a:t>]  | Database &amp; </a:t>
            </a:r>
            <a:r>
              <a:rPr lang="en-US" sz="900">
                <a:solidFill>
                  <a:srgbClr val="6B7B86"/>
                </a:solidFill>
                <a:latin typeface="Calibri"/>
                <a:ea typeface="Calibri"/>
                <a:cs typeface="Calibri"/>
                <a:sym typeface="Calibri"/>
              </a:rPr>
              <a:t>Research </a:t>
            </a:r>
            <a:r>
              <a:rPr b="0" i="0" lang="en-US" sz="900" u="none" cap="none" strike="noStrike">
                <a:solidFill>
                  <a:srgbClr val="6B7B86"/>
                </a:solidFill>
                <a:latin typeface="Calibri"/>
                <a:ea typeface="Calibri"/>
                <a:cs typeface="Calibri"/>
                <a:sym typeface="Calibri"/>
              </a:rPr>
              <a:t> Executive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s/cogs_navy.png" id="32" name="Google Shape;32;p1"/>
          <p:cNvPicPr preferRelativeResize="0"/>
          <p:nvPr/>
        </p:nvPicPr>
        <p:blipFill rotWithShape="1">
          <a:blip r:embed="rId6">
            <a:alphaModFix amt="45000"/>
          </a:blip>
          <a:srcRect b="0" l="0" r="0" t="0"/>
          <a:stretch/>
        </p:blipFill>
        <p:spPr>
          <a:xfrm>
            <a:off x="9418320" y="2377440"/>
            <a:ext cx="2011680" cy="20116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630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8630A"/>
                </a:solidFill>
                <a:latin typeface="Calibri"/>
                <a:ea typeface="Calibri"/>
                <a:cs typeface="Calibri"/>
                <a:sym typeface="Calibri"/>
              </a:rPr>
              <a:t>PROJECT OVERVIEW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 txBox="1"/>
          <p:nvPr/>
        </p:nvSpPr>
        <p:spPr>
          <a:xfrm>
            <a:off x="548640" y="713232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A30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D2A30"/>
                </a:solidFill>
                <a:latin typeface="Cambria"/>
                <a:ea typeface="Cambria"/>
                <a:cs typeface="Cambria"/>
                <a:sym typeface="Cambria"/>
              </a:rPr>
              <a:t>About This Project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548640" y="1600200"/>
            <a:ext cx="3611880" cy="1417320"/>
          </a:xfrm>
          <a:prstGeom prst="roundRect">
            <a:avLst>
              <a:gd fmla="val 5161" name="adj"/>
            </a:avLst>
          </a:prstGeom>
          <a:solidFill>
            <a:srgbClr val="F5F6F7"/>
          </a:solidFill>
          <a:ln>
            <a:noFill/>
          </a:ln>
          <a:effectLst>
            <a:outerShdw blurRad="762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777240" y="1828800"/>
            <a:ext cx="502920" cy="502920"/>
          </a:xfrm>
          <a:prstGeom prst="ellipse">
            <a:avLst/>
          </a:prstGeom>
          <a:solidFill>
            <a:srgbClr val="2B3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building_orange.png" id="42" name="Google Shape;4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1540" y="194310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2"/>
          <p:cNvSpPr txBox="1"/>
          <p:nvPr/>
        </p:nvSpPr>
        <p:spPr>
          <a:xfrm>
            <a:off x="777240" y="2423160"/>
            <a:ext cx="3154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630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E8630A"/>
                </a:solidFill>
                <a:latin typeface="Calibri"/>
                <a:ea typeface="Calibri"/>
                <a:cs typeface="Calibri"/>
                <a:sym typeface="Calibri"/>
              </a:rPr>
              <a:t>CLIENT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 txBox="1"/>
          <p:nvPr/>
        </p:nvSpPr>
        <p:spPr>
          <a:xfrm>
            <a:off x="777240" y="2633472"/>
            <a:ext cx="3154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A3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D2A30"/>
                </a:solidFill>
                <a:latin typeface="Calibri"/>
                <a:ea typeface="Calibri"/>
                <a:cs typeface="Calibri"/>
                <a:sym typeface="Calibri"/>
              </a:rPr>
              <a:t>Industrial Tech Conclave — Pune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4389120" y="1600200"/>
            <a:ext cx="3611880" cy="1417320"/>
          </a:xfrm>
          <a:prstGeom prst="roundRect">
            <a:avLst>
              <a:gd fmla="val 5161" name="adj"/>
            </a:avLst>
          </a:prstGeom>
          <a:solidFill>
            <a:srgbClr val="F5F6F7"/>
          </a:solidFill>
          <a:ln>
            <a:noFill/>
          </a:ln>
          <a:effectLst>
            <a:outerShdw blurRad="762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4617720" y="1828800"/>
            <a:ext cx="502920" cy="502920"/>
          </a:xfrm>
          <a:prstGeom prst="ellipse">
            <a:avLst/>
          </a:prstGeom>
          <a:solidFill>
            <a:srgbClr val="2B3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pin_orange.png" id="47" name="Google Shape;47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32020" y="194310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2"/>
          <p:cNvSpPr txBox="1"/>
          <p:nvPr/>
        </p:nvSpPr>
        <p:spPr>
          <a:xfrm>
            <a:off x="4617720" y="2423160"/>
            <a:ext cx="3154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630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E8630A"/>
                </a:solidFill>
                <a:latin typeface="Calibri"/>
                <a:ea typeface="Calibri"/>
                <a:cs typeface="Calibri"/>
                <a:sym typeface="Calibri"/>
              </a:rPr>
              <a:t>GEOGRAPHY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 txBox="1"/>
          <p:nvPr/>
        </p:nvSpPr>
        <p:spPr>
          <a:xfrm>
            <a:off x="4617720" y="2633472"/>
            <a:ext cx="3154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A3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D2A30"/>
                </a:solidFill>
                <a:latin typeface="Calibri"/>
                <a:ea typeface="Calibri"/>
                <a:cs typeface="Calibri"/>
                <a:sym typeface="Calibri"/>
              </a:rPr>
              <a:t>Pune &amp; Pune Metropolitan Region, India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8229600" y="1600200"/>
            <a:ext cx="3611880" cy="1417320"/>
          </a:xfrm>
          <a:prstGeom prst="roundRect">
            <a:avLst>
              <a:gd fmla="val 5161" name="adj"/>
            </a:avLst>
          </a:prstGeom>
          <a:solidFill>
            <a:srgbClr val="F5F6F7"/>
          </a:solidFill>
          <a:ln>
            <a:noFill/>
          </a:ln>
          <a:effectLst>
            <a:outerShdw blurRad="762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"/>
          <p:cNvSpPr/>
          <p:nvPr/>
        </p:nvSpPr>
        <p:spPr>
          <a:xfrm>
            <a:off x="8458200" y="1828800"/>
            <a:ext cx="502920" cy="502920"/>
          </a:xfrm>
          <a:prstGeom prst="ellipse">
            <a:avLst/>
          </a:prstGeom>
          <a:solidFill>
            <a:srgbClr val="2B3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industry_orange.png" id="52" name="Google Shape;52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72500" y="194310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2"/>
          <p:cNvSpPr txBox="1"/>
          <p:nvPr/>
        </p:nvSpPr>
        <p:spPr>
          <a:xfrm>
            <a:off x="8458200" y="2423160"/>
            <a:ext cx="3154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630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E8630A"/>
                </a:solidFill>
                <a:latin typeface="Calibri"/>
                <a:ea typeface="Calibri"/>
                <a:cs typeface="Calibri"/>
                <a:sym typeface="Calibri"/>
              </a:rPr>
              <a:t>COMPANY TYPE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 txBox="1"/>
          <p:nvPr/>
        </p:nvSpPr>
        <p:spPr>
          <a:xfrm>
            <a:off x="8458200" y="2633472"/>
            <a:ext cx="3154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A3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D2A30"/>
                </a:solidFill>
                <a:latin typeface="Calibri"/>
                <a:ea typeface="Calibri"/>
                <a:cs typeface="Calibri"/>
                <a:sym typeface="Calibri"/>
              </a:rPr>
              <a:t>Mid-Market Manufacturing &amp; Industrial Automation Firms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548640" y="3246120"/>
            <a:ext cx="3611880" cy="1417320"/>
          </a:xfrm>
          <a:prstGeom prst="roundRect">
            <a:avLst>
              <a:gd fmla="val 5161" name="adj"/>
            </a:avLst>
          </a:prstGeom>
          <a:solidFill>
            <a:srgbClr val="F5F6F7"/>
          </a:solidFill>
          <a:ln>
            <a:noFill/>
          </a:ln>
          <a:effectLst>
            <a:outerShdw blurRad="762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2"/>
          <p:cNvSpPr/>
          <p:nvPr/>
        </p:nvSpPr>
        <p:spPr>
          <a:xfrm>
            <a:off x="777240" y="3474720"/>
            <a:ext cx="502920" cy="502920"/>
          </a:xfrm>
          <a:prstGeom prst="ellipse">
            <a:avLst/>
          </a:prstGeom>
          <a:solidFill>
            <a:srgbClr val="2B3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chart_orange.png" id="57" name="Google Shape;57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91540" y="358902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2"/>
          <p:cNvSpPr txBox="1"/>
          <p:nvPr/>
        </p:nvSpPr>
        <p:spPr>
          <a:xfrm>
            <a:off x="777240" y="4069080"/>
            <a:ext cx="3154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630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E8630A"/>
                </a:solidFill>
                <a:latin typeface="Calibri"/>
                <a:ea typeface="Calibri"/>
                <a:cs typeface="Calibri"/>
                <a:sym typeface="Calibri"/>
              </a:rPr>
              <a:t>EMPLOYEE SIZE BAND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 txBox="1"/>
          <p:nvPr/>
        </p:nvSpPr>
        <p:spPr>
          <a:xfrm>
            <a:off x="777240" y="4279392"/>
            <a:ext cx="3154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A3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D2A30"/>
                </a:solidFill>
                <a:latin typeface="Calibri"/>
                <a:ea typeface="Calibri"/>
                <a:cs typeface="Calibri"/>
                <a:sym typeface="Calibri"/>
              </a:rPr>
              <a:t>200 – 1,000 Employees (ABM Account Tiering)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4389120" y="3246120"/>
            <a:ext cx="3611880" cy="1417320"/>
          </a:xfrm>
          <a:prstGeom prst="roundRect">
            <a:avLst>
              <a:gd fmla="val 5161" name="adj"/>
            </a:avLst>
          </a:prstGeom>
          <a:solidFill>
            <a:srgbClr val="F5F6F7"/>
          </a:solidFill>
          <a:ln>
            <a:noFill/>
          </a:ln>
          <a:effectLst>
            <a:outerShdw blurRad="762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2"/>
          <p:cNvSpPr/>
          <p:nvPr/>
        </p:nvSpPr>
        <p:spPr>
          <a:xfrm>
            <a:off x="4617720" y="3474720"/>
            <a:ext cx="502920" cy="502920"/>
          </a:xfrm>
          <a:prstGeom prst="ellipse">
            <a:avLst/>
          </a:prstGeom>
          <a:solidFill>
            <a:srgbClr val="2B3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users_orange.png" id="62" name="Google Shape;62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32020" y="358902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2"/>
          <p:cNvSpPr txBox="1"/>
          <p:nvPr/>
        </p:nvSpPr>
        <p:spPr>
          <a:xfrm>
            <a:off x="4617720" y="4069080"/>
            <a:ext cx="3154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630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E8630A"/>
                </a:solidFill>
                <a:latin typeface="Calibri"/>
                <a:ea typeface="Calibri"/>
                <a:cs typeface="Calibri"/>
                <a:sym typeface="Calibri"/>
              </a:rPr>
              <a:t>SENIORITY FOCUS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 txBox="1"/>
          <p:nvPr/>
        </p:nvSpPr>
        <p:spPr>
          <a:xfrm>
            <a:off x="4617720" y="4279392"/>
            <a:ext cx="3154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A3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D2A30"/>
                </a:solidFill>
                <a:latin typeface="Calibri"/>
                <a:ea typeface="Calibri"/>
                <a:cs typeface="Calibri"/>
                <a:sym typeface="Calibri"/>
              </a:rPr>
              <a:t>CXO, VP, Head of Function — Head Level &amp; Above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8229600" y="3246120"/>
            <a:ext cx="3611880" cy="1417320"/>
          </a:xfrm>
          <a:prstGeom prst="roundRect">
            <a:avLst>
              <a:gd fmla="val 5161" name="adj"/>
            </a:avLst>
          </a:prstGeom>
          <a:solidFill>
            <a:srgbClr val="F5F6F7"/>
          </a:solidFill>
          <a:ln>
            <a:noFill/>
          </a:ln>
          <a:effectLst>
            <a:outerShdw blurRad="762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2"/>
          <p:cNvSpPr/>
          <p:nvPr/>
        </p:nvSpPr>
        <p:spPr>
          <a:xfrm>
            <a:off x="8458200" y="3474720"/>
            <a:ext cx="502920" cy="502920"/>
          </a:xfrm>
          <a:prstGeom prst="ellipse">
            <a:avLst/>
          </a:prstGeom>
          <a:solidFill>
            <a:srgbClr val="2B3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cogs_orange.png" id="67" name="Google Shape;67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72500" y="3589020"/>
            <a:ext cx="274320" cy="27432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2"/>
          <p:cNvSpPr txBox="1"/>
          <p:nvPr/>
        </p:nvSpPr>
        <p:spPr>
          <a:xfrm>
            <a:off x="8458200" y="4069080"/>
            <a:ext cx="3154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630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E8630A"/>
                </a:solidFill>
                <a:latin typeface="Calibri"/>
                <a:ea typeface="Calibri"/>
                <a:cs typeface="Calibri"/>
                <a:sym typeface="Calibri"/>
              </a:rPr>
              <a:t>FUNCTION FOCUS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 txBox="1"/>
          <p:nvPr/>
        </p:nvSpPr>
        <p:spPr>
          <a:xfrm>
            <a:off x="8458200" y="4279392"/>
            <a:ext cx="3154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A3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1D2A30"/>
                </a:solidFill>
                <a:latin typeface="Calibri"/>
                <a:ea typeface="Calibri"/>
                <a:cs typeface="Calibri"/>
                <a:sym typeface="Calibri"/>
              </a:rPr>
              <a:t>Procurement, Supply Chain, Plant Ops, Mfg. Technology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2"/>
          <p:cNvSpPr/>
          <p:nvPr/>
        </p:nvSpPr>
        <p:spPr>
          <a:xfrm>
            <a:off x="548640" y="5257800"/>
            <a:ext cx="11064240" cy="1005840"/>
          </a:xfrm>
          <a:prstGeom prst="rect">
            <a:avLst/>
          </a:prstGeom>
          <a:solidFill>
            <a:srgbClr val="2B3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2"/>
          <p:cNvSpPr txBox="1"/>
          <p:nvPr/>
        </p:nvSpPr>
        <p:spPr>
          <a:xfrm>
            <a:off x="914400" y="537667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630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8630A"/>
                </a:solidFill>
                <a:latin typeface="Calibri"/>
                <a:ea typeface="Calibri"/>
                <a:cs typeface="Calibri"/>
                <a:sym typeface="Calibri"/>
              </a:rPr>
              <a:t>FINAL DATASET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2"/>
          <p:cNvSpPr txBox="1"/>
          <p:nvPr/>
        </p:nvSpPr>
        <p:spPr>
          <a:xfrm>
            <a:off x="914400" y="5605272"/>
            <a:ext cx="98755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700 Target Accounts (Companies)  →  2,800 Verified Contacts (Head Level &amp; Above)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2"/>
          <p:cNvSpPr txBox="1"/>
          <p:nvPr/>
        </p:nvSpPr>
        <p:spPr>
          <a:xfrm>
            <a:off x="914400" y="5989320"/>
            <a:ext cx="9875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AEC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E8EAEC"/>
                </a:solidFill>
                <a:latin typeface="Calibri"/>
                <a:ea typeface="Calibri"/>
                <a:cs typeface="Calibri"/>
                <a:sym typeface="Calibri"/>
              </a:rPr>
              <a:t>Average 4.0 verified contacts per account, across 5 functions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2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B86"/>
                </a:solidFill>
                <a:latin typeface="Calibri"/>
                <a:ea typeface="Calibri"/>
                <a:cs typeface="Calibri"/>
                <a:sym typeface="Calibri"/>
              </a:rPr>
              <a:t>B2B Account Profiling Project — Manufacturing &amp; Industrial Automation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2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B8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B86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630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8630A"/>
                </a:solidFill>
                <a:latin typeface="Calibri"/>
                <a:ea typeface="Calibri"/>
                <a:cs typeface="Calibri"/>
                <a:sym typeface="Calibri"/>
              </a:rPr>
              <a:t>DATASET HIGHLIGHTS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 txBox="1"/>
          <p:nvPr/>
        </p:nvSpPr>
        <p:spPr>
          <a:xfrm>
            <a:off x="548640" y="713232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A30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D2A30"/>
                </a:solidFill>
                <a:latin typeface="Cambria"/>
                <a:ea typeface="Cambria"/>
                <a:cs typeface="Cambria"/>
                <a:sym typeface="Cambria"/>
              </a:rPr>
              <a:t>By the Numbers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548640" y="1600200"/>
            <a:ext cx="3611880" cy="1417320"/>
          </a:xfrm>
          <a:prstGeom prst="roundRect">
            <a:avLst>
              <a:gd fmla="val 5161" name="adj"/>
            </a:avLst>
          </a:prstGeom>
          <a:solidFill>
            <a:srgbClr val="F5F6F7"/>
          </a:solidFill>
          <a:ln>
            <a:noFill/>
          </a:ln>
          <a:effectLst>
            <a:outerShdw blurRad="762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3"/>
          <p:cNvSpPr txBox="1"/>
          <p:nvPr/>
        </p:nvSpPr>
        <p:spPr>
          <a:xfrm>
            <a:off x="777240" y="1737360"/>
            <a:ext cx="3154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FA5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4A6FA5"/>
                </a:solidFill>
                <a:latin typeface="Cambria"/>
                <a:ea typeface="Cambria"/>
                <a:cs typeface="Cambria"/>
                <a:sym typeface="Cambria"/>
              </a:rPr>
              <a:t>700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 txBox="1"/>
          <p:nvPr/>
        </p:nvSpPr>
        <p:spPr>
          <a:xfrm>
            <a:off x="777240" y="2350008"/>
            <a:ext cx="3154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A3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D2A30"/>
                </a:solidFill>
                <a:latin typeface="Calibri"/>
                <a:ea typeface="Calibri"/>
                <a:cs typeface="Calibri"/>
                <a:sym typeface="Calibri"/>
              </a:rPr>
              <a:t>Total Accounts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 txBox="1"/>
          <p:nvPr/>
        </p:nvSpPr>
        <p:spPr>
          <a:xfrm>
            <a:off x="777240" y="2624328"/>
            <a:ext cx="3154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B86"/>
                </a:solidFill>
                <a:latin typeface="Calibri"/>
                <a:ea typeface="Calibri"/>
                <a:cs typeface="Calibri"/>
                <a:sym typeface="Calibri"/>
              </a:rPr>
              <a:t>Companies Profiled (Pune Region)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4389120" y="1600200"/>
            <a:ext cx="3611880" cy="1417320"/>
          </a:xfrm>
          <a:prstGeom prst="roundRect">
            <a:avLst>
              <a:gd fmla="val 5161" name="adj"/>
            </a:avLst>
          </a:prstGeom>
          <a:solidFill>
            <a:srgbClr val="F5F6F7"/>
          </a:solidFill>
          <a:ln>
            <a:noFill/>
          </a:ln>
          <a:effectLst>
            <a:outerShdw blurRad="762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3"/>
          <p:cNvSpPr txBox="1"/>
          <p:nvPr/>
        </p:nvSpPr>
        <p:spPr>
          <a:xfrm>
            <a:off x="4617720" y="1737360"/>
            <a:ext cx="3154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FA5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4A6FA5"/>
                </a:solidFill>
                <a:latin typeface="Cambria"/>
                <a:ea typeface="Cambria"/>
                <a:cs typeface="Cambria"/>
                <a:sym typeface="Cambria"/>
              </a:rPr>
              <a:t>2,800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 txBox="1"/>
          <p:nvPr/>
        </p:nvSpPr>
        <p:spPr>
          <a:xfrm>
            <a:off x="4617720" y="2350008"/>
            <a:ext cx="3154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A3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D2A30"/>
                </a:solidFill>
                <a:latin typeface="Calibri"/>
                <a:ea typeface="Calibri"/>
                <a:cs typeface="Calibri"/>
                <a:sym typeface="Calibri"/>
              </a:rPr>
              <a:t>Total Contacts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3"/>
          <p:cNvSpPr txBox="1"/>
          <p:nvPr/>
        </p:nvSpPr>
        <p:spPr>
          <a:xfrm>
            <a:off x="4617720" y="2624328"/>
            <a:ext cx="3154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B86"/>
                </a:solidFill>
                <a:latin typeface="Calibri"/>
                <a:ea typeface="Calibri"/>
                <a:cs typeface="Calibri"/>
                <a:sym typeface="Calibri"/>
              </a:rPr>
              <a:t>Verified Profiles, Head Level &amp; Above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8229600" y="1600200"/>
            <a:ext cx="3611880" cy="1417320"/>
          </a:xfrm>
          <a:prstGeom prst="roundRect">
            <a:avLst>
              <a:gd fmla="val 5161" name="adj"/>
            </a:avLst>
          </a:prstGeom>
          <a:solidFill>
            <a:srgbClr val="F5F6F7"/>
          </a:solidFill>
          <a:ln>
            <a:noFill/>
          </a:ln>
          <a:effectLst>
            <a:outerShdw blurRad="762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"/>
          <p:cNvSpPr txBox="1"/>
          <p:nvPr/>
        </p:nvSpPr>
        <p:spPr>
          <a:xfrm>
            <a:off x="8458200" y="1737360"/>
            <a:ext cx="3154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FA5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4A6FA5"/>
                </a:solidFill>
                <a:latin typeface="Cambria"/>
                <a:ea typeface="Cambria"/>
                <a:cs typeface="Cambria"/>
                <a:sym typeface="Cambria"/>
              </a:rPr>
              <a:t>4.0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 txBox="1"/>
          <p:nvPr/>
        </p:nvSpPr>
        <p:spPr>
          <a:xfrm>
            <a:off x="8458200" y="2350008"/>
            <a:ext cx="3154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A3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D2A30"/>
                </a:solidFill>
                <a:latin typeface="Calibri"/>
                <a:ea typeface="Calibri"/>
                <a:cs typeface="Calibri"/>
                <a:sym typeface="Calibri"/>
              </a:rPr>
              <a:t>Avg. Contacts / Account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 txBox="1"/>
          <p:nvPr/>
        </p:nvSpPr>
        <p:spPr>
          <a:xfrm>
            <a:off x="8458200" y="2624328"/>
            <a:ext cx="3154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B86"/>
                </a:solidFill>
                <a:latin typeface="Calibri"/>
                <a:ea typeface="Calibri"/>
                <a:cs typeface="Calibri"/>
                <a:sym typeface="Calibri"/>
              </a:rPr>
              <a:t>Across 5 Functional Departments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548640" y="3246120"/>
            <a:ext cx="3611880" cy="1417320"/>
          </a:xfrm>
          <a:prstGeom prst="roundRect">
            <a:avLst>
              <a:gd fmla="val 5161" name="adj"/>
            </a:avLst>
          </a:prstGeom>
          <a:solidFill>
            <a:srgbClr val="F5F6F7"/>
          </a:solidFill>
          <a:ln>
            <a:noFill/>
          </a:ln>
          <a:effectLst>
            <a:outerShdw blurRad="762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"/>
          <p:cNvSpPr txBox="1"/>
          <p:nvPr/>
        </p:nvSpPr>
        <p:spPr>
          <a:xfrm>
            <a:off x="777240" y="3383280"/>
            <a:ext cx="3154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FA5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4A6FA5"/>
                </a:solidFill>
                <a:latin typeface="Cambria"/>
                <a:ea typeface="Cambria"/>
                <a:cs typeface="Cambria"/>
                <a:sym typeface="Cambria"/>
              </a:rPr>
              <a:t>1,400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 txBox="1"/>
          <p:nvPr/>
        </p:nvSpPr>
        <p:spPr>
          <a:xfrm>
            <a:off x="777240" y="3995928"/>
            <a:ext cx="3154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A3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D2A30"/>
                </a:solidFill>
                <a:latin typeface="Calibri"/>
                <a:ea typeface="Calibri"/>
                <a:cs typeface="Calibri"/>
                <a:sym typeface="Calibri"/>
              </a:rPr>
              <a:t>Head of Function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 txBox="1"/>
          <p:nvPr/>
        </p:nvSpPr>
        <p:spPr>
          <a:xfrm>
            <a:off x="777240" y="4270248"/>
            <a:ext cx="3154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B86"/>
                </a:solidFill>
                <a:latin typeface="Calibri"/>
                <a:ea typeface="Calibri"/>
                <a:cs typeface="Calibri"/>
                <a:sym typeface="Calibri"/>
              </a:rPr>
              <a:t>Dept. &amp; Site Function Heads (50.0%)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4389120" y="3246120"/>
            <a:ext cx="3611880" cy="1417320"/>
          </a:xfrm>
          <a:prstGeom prst="roundRect">
            <a:avLst>
              <a:gd fmla="val 5161" name="adj"/>
            </a:avLst>
          </a:prstGeom>
          <a:solidFill>
            <a:srgbClr val="F5F6F7"/>
          </a:solidFill>
          <a:ln>
            <a:noFill/>
          </a:ln>
          <a:effectLst>
            <a:outerShdw blurRad="762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"/>
          <p:cNvSpPr txBox="1"/>
          <p:nvPr/>
        </p:nvSpPr>
        <p:spPr>
          <a:xfrm>
            <a:off x="4617720" y="3383280"/>
            <a:ext cx="3154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FA5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4A6FA5"/>
                </a:solidFill>
                <a:latin typeface="Cambria"/>
                <a:ea typeface="Cambria"/>
                <a:cs typeface="Cambria"/>
                <a:sym typeface="Cambria"/>
              </a:rPr>
              <a:t>7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 txBox="1"/>
          <p:nvPr/>
        </p:nvSpPr>
        <p:spPr>
          <a:xfrm>
            <a:off x="4617720" y="3995928"/>
            <a:ext cx="3154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A3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D2A30"/>
                </a:solidFill>
                <a:latin typeface="Calibri"/>
                <a:ea typeface="Calibri"/>
                <a:cs typeface="Calibri"/>
                <a:sym typeface="Calibri"/>
              </a:rPr>
              <a:t>Manufacturing Verticals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 txBox="1"/>
          <p:nvPr/>
        </p:nvSpPr>
        <p:spPr>
          <a:xfrm>
            <a:off x="4617720" y="4270248"/>
            <a:ext cx="3154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B86"/>
                </a:solidFill>
                <a:latin typeface="Calibri"/>
                <a:ea typeface="Calibri"/>
                <a:cs typeface="Calibri"/>
                <a:sym typeface="Calibri"/>
              </a:rPr>
              <a:t>Auto, Industrial, Pharma, FMCG…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8229600" y="3246120"/>
            <a:ext cx="3611880" cy="1417320"/>
          </a:xfrm>
          <a:prstGeom prst="roundRect">
            <a:avLst>
              <a:gd fmla="val 5161" name="adj"/>
            </a:avLst>
          </a:prstGeom>
          <a:solidFill>
            <a:srgbClr val="F5F6F7"/>
          </a:solidFill>
          <a:ln>
            <a:noFill/>
          </a:ln>
          <a:effectLst>
            <a:outerShdw blurRad="76200" rotWithShape="0" algn="bl" dir="5400000" dist="25400">
              <a:srgbClr val="000000">
                <a:alpha val="12157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"/>
          <p:cNvSpPr txBox="1"/>
          <p:nvPr/>
        </p:nvSpPr>
        <p:spPr>
          <a:xfrm>
            <a:off x="8458200" y="3383280"/>
            <a:ext cx="3154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FA5"/>
              </a:buClr>
              <a:buSzPts val="3400"/>
              <a:buFont typeface="Cambria"/>
              <a:buNone/>
            </a:pPr>
            <a:r>
              <a:rPr b="1" i="0" lang="en-US" sz="3400" u="none" cap="none" strike="noStrike">
                <a:solidFill>
                  <a:srgbClr val="4A6FA5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8458200" y="3995928"/>
            <a:ext cx="3154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A3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D2A30"/>
                </a:solidFill>
                <a:latin typeface="Calibri"/>
                <a:ea typeface="Calibri"/>
                <a:cs typeface="Calibri"/>
                <a:sym typeface="Calibri"/>
              </a:rPr>
              <a:t>Employee-Size Tiers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 txBox="1"/>
          <p:nvPr/>
        </p:nvSpPr>
        <p:spPr>
          <a:xfrm>
            <a:off x="8458200" y="4270248"/>
            <a:ext cx="3154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B86"/>
                </a:solidFill>
                <a:latin typeface="Calibri"/>
                <a:ea typeface="Calibri"/>
                <a:cs typeface="Calibri"/>
                <a:sym typeface="Calibri"/>
              </a:rPr>
              <a:t>200–500 · 501–1,000 · 1,001–2,500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B86"/>
                </a:solidFill>
                <a:latin typeface="Calibri"/>
                <a:ea typeface="Calibri"/>
                <a:cs typeface="Calibri"/>
                <a:sym typeface="Calibri"/>
              </a:rPr>
              <a:t>B2B Account Profiling Project — Manufacturing &amp; Industrial Automation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B8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B86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630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8630A"/>
                </a:solidFill>
                <a:latin typeface="Calibri"/>
                <a:ea typeface="Calibri"/>
                <a:cs typeface="Calibri"/>
                <a:sym typeface="Calibri"/>
              </a:rPr>
              <a:t>SENIORITY BREAKDOWN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 txBox="1"/>
          <p:nvPr/>
        </p:nvSpPr>
        <p:spPr>
          <a:xfrm>
            <a:off x="548640" y="713232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A30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D2A30"/>
                </a:solidFill>
                <a:latin typeface="Cambria"/>
                <a:ea typeface="Cambria"/>
                <a:cs typeface="Cambria"/>
                <a:sym typeface="Cambria"/>
              </a:rPr>
              <a:t>Decision-Maker Hierarchy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 txBox="1"/>
          <p:nvPr/>
        </p:nvSpPr>
        <p:spPr>
          <a:xfrm>
            <a:off x="548640" y="1280160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B86"/>
                </a:solidFill>
                <a:latin typeface="Calibri"/>
                <a:ea typeface="Calibri"/>
                <a:cs typeface="Calibri"/>
                <a:sym typeface="Calibri"/>
              </a:rPr>
              <a:t>2,800 verified contacts across the 700 target accounts, by seniority tier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7" name="Google Shape;117;p4"/>
          <p:cNvGraphicFramePr/>
          <p:nvPr/>
        </p:nvGraphicFramePr>
        <p:xfrm>
          <a:off x="548640" y="1783080"/>
          <a:ext cx="6675120" cy="425196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118" name="Google Shape;118;p4"/>
          <p:cNvSpPr/>
          <p:nvPr/>
        </p:nvSpPr>
        <p:spPr>
          <a:xfrm>
            <a:off x="7498080" y="1828800"/>
            <a:ext cx="4114800" cy="96012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"/>
          <p:cNvSpPr txBox="1"/>
          <p:nvPr/>
        </p:nvSpPr>
        <p:spPr>
          <a:xfrm>
            <a:off x="7680960" y="1984248"/>
            <a:ext cx="1188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630A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E8630A"/>
                </a:solidFill>
                <a:latin typeface="Cambria"/>
                <a:ea typeface="Cambria"/>
                <a:cs typeface="Cambria"/>
                <a:sym typeface="Cambria"/>
              </a:rPr>
              <a:t>20.0%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 txBox="1"/>
          <p:nvPr/>
        </p:nvSpPr>
        <p:spPr>
          <a:xfrm>
            <a:off x="8915400" y="2002536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A3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D2A30"/>
                </a:solidFill>
                <a:latin typeface="Calibri"/>
                <a:ea typeface="Calibri"/>
                <a:cs typeface="Calibri"/>
                <a:sym typeface="Calibri"/>
              </a:rPr>
              <a:t>CXO / C-Suite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 txBox="1"/>
          <p:nvPr/>
        </p:nvSpPr>
        <p:spPr>
          <a:xfrm>
            <a:off x="8915400" y="233172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B86"/>
                </a:solidFill>
                <a:latin typeface="Calibri"/>
                <a:ea typeface="Calibri"/>
                <a:cs typeface="Calibri"/>
                <a:sym typeface="Calibri"/>
              </a:rPr>
              <a:t>560 contacts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7498080" y="2926080"/>
            <a:ext cx="4114800" cy="96012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"/>
          <p:cNvSpPr txBox="1"/>
          <p:nvPr/>
        </p:nvSpPr>
        <p:spPr>
          <a:xfrm>
            <a:off x="7680960" y="3081528"/>
            <a:ext cx="1188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630A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E8630A"/>
                </a:solidFill>
                <a:latin typeface="Cambria"/>
                <a:ea typeface="Cambria"/>
                <a:cs typeface="Cambria"/>
                <a:sym typeface="Cambria"/>
              </a:rPr>
              <a:t>30.0%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 txBox="1"/>
          <p:nvPr/>
        </p:nvSpPr>
        <p:spPr>
          <a:xfrm>
            <a:off x="8915400" y="3099816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A3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D2A30"/>
                </a:solidFill>
                <a:latin typeface="Calibri"/>
                <a:ea typeface="Calibri"/>
                <a:cs typeface="Calibri"/>
                <a:sym typeface="Calibri"/>
              </a:rPr>
              <a:t>VP / Vice President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 txBox="1"/>
          <p:nvPr/>
        </p:nvSpPr>
        <p:spPr>
          <a:xfrm>
            <a:off x="8915400" y="342900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B86"/>
                </a:solidFill>
                <a:latin typeface="Calibri"/>
                <a:ea typeface="Calibri"/>
                <a:cs typeface="Calibri"/>
                <a:sym typeface="Calibri"/>
              </a:rPr>
              <a:t>840 contacts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7498080" y="4023360"/>
            <a:ext cx="4114800" cy="960120"/>
          </a:xfrm>
          <a:prstGeom prst="rect">
            <a:avLst/>
          </a:prstGeom>
          <a:solidFill>
            <a:srgbClr val="F5F6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"/>
          <p:cNvSpPr txBox="1"/>
          <p:nvPr/>
        </p:nvSpPr>
        <p:spPr>
          <a:xfrm>
            <a:off x="7680960" y="4178808"/>
            <a:ext cx="1188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630A"/>
              </a:buClr>
              <a:buSzPts val="2200"/>
              <a:buFont typeface="Cambria"/>
              <a:buNone/>
            </a:pPr>
            <a:r>
              <a:rPr b="1" i="0" lang="en-US" sz="2200" u="none" cap="none" strike="noStrike">
                <a:solidFill>
                  <a:srgbClr val="E8630A"/>
                </a:solidFill>
                <a:latin typeface="Cambria"/>
                <a:ea typeface="Cambria"/>
                <a:cs typeface="Cambria"/>
                <a:sym typeface="Cambria"/>
              </a:rPr>
              <a:t>50.0%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 txBox="1"/>
          <p:nvPr/>
        </p:nvSpPr>
        <p:spPr>
          <a:xfrm>
            <a:off x="8915400" y="4197096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A3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D2A30"/>
                </a:solidFill>
                <a:latin typeface="Calibri"/>
                <a:ea typeface="Calibri"/>
                <a:cs typeface="Calibri"/>
                <a:sym typeface="Calibri"/>
              </a:rPr>
              <a:t>Head of Function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 txBox="1"/>
          <p:nvPr/>
        </p:nvSpPr>
        <p:spPr>
          <a:xfrm>
            <a:off x="8915400" y="452628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B86"/>
                </a:solidFill>
                <a:latin typeface="Calibri"/>
                <a:ea typeface="Calibri"/>
                <a:cs typeface="Calibri"/>
                <a:sym typeface="Calibri"/>
              </a:rPr>
              <a:t>1,400 contacts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7498080" y="5166360"/>
            <a:ext cx="4114800" cy="548640"/>
          </a:xfrm>
          <a:prstGeom prst="rect">
            <a:avLst/>
          </a:prstGeom>
          <a:solidFill>
            <a:srgbClr val="2B3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"/>
          <p:cNvSpPr txBox="1"/>
          <p:nvPr/>
        </p:nvSpPr>
        <p:spPr>
          <a:xfrm>
            <a:off x="7680960" y="5285232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TOTAL  →  2,800 Contacts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B86"/>
                </a:solidFill>
                <a:latin typeface="Calibri"/>
                <a:ea typeface="Calibri"/>
                <a:cs typeface="Calibri"/>
                <a:sym typeface="Calibri"/>
              </a:rPr>
              <a:t>B2B Account Profiling Project — Manufacturing &amp; Industrial Automation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B8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B86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"/>
          <p:cNvSpPr txBox="1"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630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8630A"/>
                </a:solidFill>
                <a:latin typeface="Calibri"/>
                <a:ea typeface="Calibri"/>
                <a:cs typeface="Calibri"/>
                <a:sym typeface="Calibri"/>
              </a:rPr>
              <a:t>ACCOUNT SIZE DISTRIBUTION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 txBox="1"/>
          <p:nvPr/>
        </p:nvSpPr>
        <p:spPr>
          <a:xfrm>
            <a:off x="548640" y="713232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A30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D2A30"/>
                </a:solidFill>
                <a:latin typeface="Cambria"/>
                <a:ea typeface="Cambria"/>
                <a:cs typeface="Cambria"/>
                <a:sym typeface="Cambria"/>
              </a:rPr>
              <a:t>Employee-Size Tiering (ABM Bands)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 txBox="1"/>
          <p:nvPr/>
        </p:nvSpPr>
        <p:spPr>
          <a:xfrm>
            <a:off x="548640" y="1261872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B86"/>
                </a:solidFill>
                <a:latin typeface="Calibri"/>
                <a:ea typeface="Calibri"/>
                <a:cs typeface="Calibri"/>
                <a:sym typeface="Calibri"/>
              </a:rPr>
              <a:t>Accounts were tiered by company headcount to align outreach priority with deal-size potential for the event's manufacturing technology partners.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2" name="Google Shape;142;p5"/>
          <p:cNvGraphicFramePr/>
          <p:nvPr/>
        </p:nvGraphicFramePr>
        <p:xfrm>
          <a:off x="548640" y="1874520"/>
          <a:ext cx="6766560" cy="420624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143" name="Google Shape;143;p5"/>
          <p:cNvSpPr/>
          <p:nvPr/>
        </p:nvSpPr>
        <p:spPr>
          <a:xfrm>
            <a:off x="7635240" y="1874520"/>
            <a:ext cx="3977640" cy="1234440"/>
          </a:xfrm>
          <a:prstGeom prst="roundRect">
            <a:avLst>
              <a:gd fmla="val 5185" name="adj"/>
            </a:avLst>
          </a:prstGeom>
          <a:solidFill>
            <a:srgbClr val="F5F6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5"/>
          <p:cNvSpPr/>
          <p:nvPr/>
        </p:nvSpPr>
        <p:spPr>
          <a:xfrm>
            <a:off x="7818120" y="2057400"/>
            <a:ext cx="457200" cy="457200"/>
          </a:xfrm>
          <a:prstGeom prst="ellipse">
            <a:avLst/>
          </a:prstGeom>
          <a:solidFill>
            <a:srgbClr val="2B3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warehouse_orange.png" id="145" name="Google Shape;14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27848" y="216712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5"/>
          <p:cNvSpPr txBox="1"/>
          <p:nvPr/>
        </p:nvSpPr>
        <p:spPr>
          <a:xfrm>
            <a:off x="8412480" y="2011680"/>
            <a:ext cx="3063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A3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D2A30"/>
                </a:solidFill>
                <a:latin typeface="Calibri"/>
                <a:ea typeface="Calibri"/>
                <a:cs typeface="Calibri"/>
                <a:sym typeface="Calibri"/>
              </a:rPr>
              <a:t>Tier 1 — Growth Accounts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 txBox="1"/>
          <p:nvPr/>
        </p:nvSpPr>
        <p:spPr>
          <a:xfrm>
            <a:off x="8412480" y="2286000"/>
            <a:ext cx="3063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B86"/>
                </a:solidFill>
                <a:latin typeface="Calibri"/>
                <a:ea typeface="Calibri"/>
                <a:cs typeface="Calibri"/>
                <a:sym typeface="Calibri"/>
              </a:rPr>
              <a:t>200–500 employees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 txBox="1"/>
          <p:nvPr/>
        </p:nvSpPr>
        <p:spPr>
          <a:xfrm>
            <a:off x="7818120" y="2624328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FA5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4A6FA5"/>
                </a:solidFill>
                <a:latin typeface="Cambria"/>
                <a:ea typeface="Cambria"/>
                <a:cs typeface="Cambria"/>
                <a:sym typeface="Cambria"/>
              </a:rPr>
              <a:t>315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 txBox="1"/>
          <p:nvPr/>
        </p:nvSpPr>
        <p:spPr>
          <a:xfrm>
            <a:off x="9006840" y="269748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630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8630A"/>
                </a:solidFill>
                <a:latin typeface="Calibri"/>
                <a:ea typeface="Calibri"/>
                <a:cs typeface="Calibri"/>
                <a:sym typeface="Calibri"/>
              </a:rPr>
              <a:t>45.0%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7635240" y="3291840"/>
            <a:ext cx="3977640" cy="1234440"/>
          </a:xfrm>
          <a:prstGeom prst="roundRect">
            <a:avLst>
              <a:gd fmla="val 5185" name="adj"/>
            </a:avLst>
          </a:prstGeom>
          <a:solidFill>
            <a:srgbClr val="F5F6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5"/>
          <p:cNvSpPr/>
          <p:nvPr/>
        </p:nvSpPr>
        <p:spPr>
          <a:xfrm>
            <a:off x="7818120" y="3474720"/>
            <a:ext cx="457200" cy="457200"/>
          </a:xfrm>
          <a:prstGeom prst="ellipse">
            <a:avLst/>
          </a:prstGeom>
          <a:solidFill>
            <a:srgbClr val="2B3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industry_orange.png" id="152" name="Google Shape;152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27848" y="358444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5"/>
          <p:cNvSpPr txBox="1"/>
          <p:nvPr/>
        </p:nvSpPr>
        <p:spPr>
          <a:xfrm>
            <a:off x="8412480" y="3429000"/>
            <a:ext cx="3063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A3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D2A30"/>
                </a:solidFill>
                <a:latin typeface="Calibri"/>
                <a:ea typeface="Calibri"/>
                <a:cs typeface="Calibri"/>
                <a:sym typeface="Calibri"/>
              </a:rPr>
              <a:t>Tier 2 — Established Accounts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 txBox="1"/>
          <p:nvPr/>
        </p:nvSpPr>
        <p:spPr>
          <a:xfrm>
            <a:off x="8412480" y="3703320"/>
            <a:ext cx="3063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B86"/>
                </a:solidFill>
                <a:latin typeface="Calibri"/>
                <a:ea typeface="Calibri"/>
                <a:cs typeface="Calibri"/>
                <a:sym typeface="Calibri"/>
              </a:rPr>
              <a:t>501–1,000 employees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 txBox="1"/>
          <p:nvPr/>
        </p:nvSpPr>
        <p:spPr>
          <a:xfrm>
            <a:off x="7818120" y="4041648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FA5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4A6FA5"/>
                </a:solidFill>
                <a:latin typeface="Cambria"/>
                <a:ea typeface="Cambria"/>
                <a:cs typeface="Cambria"/>
                <a:sym typeface="Cambria"/>
              </a:rPr>
              <a:t>245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 txBox="1"/>
          <p:nvPr/>
        </p:nvSpPr>
        <p:spPr>
          <a:xfrm>
            <a:off x="9006840" y="411480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630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8630A"/>
                </a:solidFill>
                <a:latin typeface="Calibri"/>
                <a:ea typeface="Calibri"/>
                <a:cs typeface="Calibri"/>
                <a:sym typeface="Calibri"/>
              </a:rPr>
              <a:t>35.0%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7635240" y="4709160"/>
            <a:ext cx="3977640" cy="1234440"/>
          </a:xfrm>
          <a:prstGeom prst="roundRect">
            <a:avLst>
              <a:gd fmla="val 5185" name="adj"/>
            </a:avLst>
          </a:prstGeom>
          <a:solidFill>
            <a:srgbClr val="F5F6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5"/>
          <p:cNvSpPr/>
          <p:nvPr/>
        </p:nvSpPr>
        <p:spPr>
          <a:xfrm>
            <a:off x="7818120" y="4892040"/>
            <a:ext cx="457200" cy="457200"/>
          </a:xfrm>
          <a:prstGeom prst="ellipse">
            <a:avLst/>
          </a:prstGeom>
          <a:solidFill>
            <a:srgbClr val="2B3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building_orange.png" id="159" name="Google Shape;159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927848" y="5001768"/>
            <a:ext cx="237744" cy="237744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5"/>
          <p:cNvSpPr txBox="1"/>
          <p:nvPr/>
        </p:nvSpPr>
        <p:spPr>
          <a:xfrm>
            <a:off x="8412480" y="4846320"/>
            <a:ext cx="3063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A3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D2A30"/>
                </a:solidFill>
                <a:latin typeface="Calibri"/>
                <a:ea typeface="Calibri"/>
                <a:cs typeface="Calibri"/>
                <a:sym typeface="Calibri"/>
              </a:rPr>
              <a:t>Tier 3 — Strategic Accounts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 txBox="1"/>
          <p:nvPr/>
        </p:nvSpPr>
        <p:spPr>
          <a:xfrm>
            <a:off x="8412480" y="5120640"/>
            <a:ext cx="3063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B7B86"/>
                </a:solidFill>
                <a:latin typeface="Calibri"/>
                <a:ea typeface="Calibri"/>
                <a:cs typeface="Calibri"/>
                <a:sym typeface="Calibri"/>
              </a:rPr>
              <a:t>1,001–2,500 employees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5"/>
          <p:cNvSpPr txBox="1"/>
          <p:nvPr/>
        </p:nvSpPr>
        <p:spPr>
          <a:xfrm>
            <a:off x="7818120" y="5458968"/>
            <a:ext cx="1188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6FA5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4A6FA5"/>
                </a:solidFill>
                <a:latin typeface="Cambria"/>
                <a:ea typeface="Cambria"/>
                <a:cs typeface="Cambria"/>
                <a:sym typeface="Cambria"/>
              </a:rPr>
              <a:t>140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5"/>
          <p:cNvSpPr txBox="1"/>
          <p:nvPr/>
        </p:nvSpPr>
        <p:spPr>
          <a:xfrm>
            <a:off x="9006840" y="553212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630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8630A"/>
                </a:solidFill>
                <a:latin typeface="Calibri"/>
                <a:ea typeface="Calibri"/>
                <a:cs typeface="Calibri"/>
                <a:sym typeface="Calibri"/>
              </a:rPr>
              <a:t>20.0%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/>
          <p:cNvSpPr txBox="1"/>
          <p:nvPr/>
        </p:nvSpPr>
        <p:spPr>
          <a:xfrm>
            <a:off x="548640" y="6263640"/>
            <a:ext cx="6766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6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B7B86"/>
                </a:solidFill>
                <a:latin typeface="Calibri"/>
                <a:ea typeface="Calibri"/>
                <a:cs typeface="Calibri"/>
                <a:sym typeface="Calibri"/>
              </a:rPr>
              <a:t>700 total accounts (companies) — tiered by employee headcount.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5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B86"/>
                </a:solidFill>
                <a:latin typeface="Calibri"/>
                <a:ea typeface="Calibri"/>
                <a:cs typeface="Calibri"/>
                <a:sym typeface="Calibri"/>
              </a:rPr>
              <a:t>B2B Account Profiling Project — Manufacturing &amp; Industrial Automation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B8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B86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630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8630A"/>
                </a:solidFill>
                <a:latin typeface="Calibri"/>
                <a:ea typeface="Calibri"/>
                <a:cs typeface="Calibri"/>
                <a:sym typeface="Calibri"/>
              </a:rPr>
              <a:t>INDUSTRIES COVERED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 txBox="1"/>
          <p:nvPr/>
        </p:nvSpPr>
        <p:spPr>
          <a:xfrm>
            <a:off x="548640" y="713232"/>
            <a:ext cx="9601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A30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D2A30"/>
                </a:solidFill>
                <a:latin typeface="Cambria"/>
                <a:ea typeface="Cambria"/>
                <a:cs typeface="Cambria"/>
                <a:sym typeface="Cambria"/>
              </a:rPr>
              <a:t>Manufacturing Verticals — Pune Belt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 txBox="1"/>
          <p:nvPr/>
        </p:nvSpPr>
        <p:spPr>
          <a:xfrm>
            <a:off x="548640" y="1298448"/>
            <a:ext cx="11064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B86"/>
                </a:solidFill>
                <a:latin typeface="Calibri"/>
                <a:ea typeface="Calibri"/>
                <a:cs typeface="Calibri"/>
                <a:sym typeface="Calibri"/>
              </a:rPr>
              <a:t>Pune's industrial corridor spans automotive, heavy engineering, and precision manufacturing. Targeting was headcount &amp; function-driven — capturing accounts where Procurement, Ops, and Plant leaders operate at scale.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s/cogs_orange.png" id="175" name="Google Shape;17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2039112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6"/>
          <p:cNvSpPr txBox="1"/>
          <p:nvPr/>
        </p:nvSpPr>
        <p:spPr>
          <a:xfrm>
            <a:off x="1005840" y="1965960"/>
            <a:ext cx="4892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A30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D2A30"/>
                </a:solidFill>
                <a:latin typeface="Calibri"/>
                <a:ea typeface="Calibri"/>
                <a:cs typeface="Calibri"/>
                <a:sym typeface="Calibri"/>
              </a:rPr>
              <a:t>INDUSTRIAL AUTOMATION &amp; ROBOTICS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 txBox="1"/>
          <p:nvPr/>
        </p:nvSpPr>
        <p:spPr>
          <a:xfrm>
            <a:off x="1005840" y="2258568"/>
            <a:ext cx="4892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B86"/>
                </a:solidFill>
                <a:latin typeface="Calibri"/>
                <a:ea typeface="Calibri"/>
                <a:cs typeface="Calibri"/>
                <a:sym typeface="Calibri"/>
              </a:rPr>
              <a:t>Automation OEMs · Robotics Integrators · Motion Control · PLC/SCADA Providers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s/car_orange.png" id="178" name="Google Shape;17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17920" y="2039112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6"/>
          <p:cNvSpPr txBox="1"/>
          <p:nvPr/>
        </p:nvSpPr>
        <p:spPr>
          <a:xfrm>
            <a:off x="6675120" y="1965960"/>
            <a:ext cx="4892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A30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D2A30"/>
                </a:solidFill>
                <a:latin typeface="Calibri"/>
                <a:ea typeface="Calibri"/>
                <a:cs typeface="Calibri"/>
                <a:sym typeface="Calibri"/>
              </a:rPr>
              <a:t>AUTOMOTIVE &amp; AUTO-COMPONENTS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 txBox="1"/>
          <p:nvPr/>
        </p:nvSpPr>
        <p:spPr>
          <a:xfrm>
            <a:off x="6675120" y="2258568"/>
            <a:ext cx="4892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B86"/>
                </a:solidFill>
                <a:latin typeface="Calibri"/>
                <a:ea typeface="Calibri"/>
                <a:cs typeface="Calibri"/>
                <a:sym typeface="Calibri"/>
              </a:rPr>
              <a:t>OEMs · Tier-1/2 Suppliers · EV Component Mfrs · Auto Ancillaries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s/warehouse_orange.png" id="181" name="Google Shape;181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8640" y="3255264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6"/>
          <p:cNvSpPr txBox="1"/>
          <p:nvPr/>
        </p:nvSpPr>
        <p:spPr>
          <a:xfrm>
            <a:off x="1005840" y="3182112"/>
            <a:ext cx="4892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A30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D2A30"/>
                </a:solidFill>
                <a:latin typeface="Calibri"/>
                <a:ea typeface="Calibri"/>
                <a:cs typeface="Calibri"/>
                <a:sym typeface="Calibri"/>
              </a:rPr>
              <a:t>HEAVY ENGINEERING &amp; CAPITAL GOODS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6"/>
          <p:cNvSpPr txBox="1"/>
          <p:nvPr/>
        </p:nvSpPr>
        <p:spPr>
          <a:xfrm>
            <a:off x="1005840" y="3474720"/>
            <a:ext cx="4892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B86"/>
                </a:solidFill>
                <a:latin typeface="Calibri"/>
                <a:ea typeface="Calibri"/>
                <a:cs typeface="Calibri"/>
                <a:sym typeface="Calibri"/>
              </a:rPr>
              <a:t>Machine Tools · Industrial Equipment · Fabrication · EPC Contractors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s/chip_orange.png" id="184" name="Google Shape;184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17920" y="3255264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6"/>
          <p:cNvSpPr txBox="1"/>
          <p:nvPr/>
        </p:nvSpPr>
        <p:spPr>
          <a:xfrm>
            <a:off x="6675120" y="3182112"/>
            <a:ext cx="4892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A30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D2A30"/>
                </a:solidFill>
                <a:latin typeface="Calibri"/>
                <a:ea typeface="Calibri"/>
                <a:cs typeface="Calibri"/>
                <a:sym typeface="Calibri"/>
              </a:rPr>
              <a:t>ELECTRONICS &amp; ELECTRICAL MFG.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6"/>
          <p:cNvSpPr txBox="1"/>
          <p:nvPr/>
        </p:nvSpPr>
        <p:spPr>
          <a:xfrm>
            <a:off x="6675120" y="3474720"/>
            <a:ext cx="4892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B86"/>
                </a:solidFill>
                <a:latin typeface="Calibri"/>
                <a:ea typeface="Calibri"/>
                <a:cs typeface="Calibri"/>
                <a:sym typeface="Calibri"/>
              </a:rPr>
              <a:t>Electronics Mfrs · Electrical Equipment · Component Assembly · EMS Providers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s/flask_orange.png" id="187" name="Google Shape;187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48640" y="4471416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6"/>
          <p:cNvSpPr txBox="1"/>
          <p:nvPr/>
        </p:nvSpPr>
        <p:spPr>
          <a:xfrm>
            <a:off x="1005840" y="4398264"/>
            <a:ext cx="4892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A30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D2A30"/>
                </a:solidFill>
                <a:latin typeface="Calibri"/>
                <a:ea typeface="Calibri"/>
                <a:cs typeface="Calibri"/>
                <a:sym typeface="Calibri"/>
              </a:rPr>
              <a:t>PHARMA &amp; CHEMICAL MANUFACTURING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6"/>
          <p:cNvSpPr txBox="1"/>
          <p:nvPr/>
        </p:nvSpPr>
        <p:spPr>
          <a:xfrm>
            <a:off x="1005840" y="4690872"/>
            <a:ext cx="4892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B86"/>
                </a:solidFill>
                <a:latin typeface="Calibri"/>
                <a:ea typeface="Calibri"/>
                <a:cs typeface="Calibri"/>
                <a:sym typeface="Calibri"/>
              </a:rPr>
              <a:t>Pharma Formulation · API Mfrs · Specialty Chemicals · Process Industries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s/truck_orange.png" id="190" name="Google Shape;190;p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217920" y="4471416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6"/>
          <p:cNvSpPr txBox="1"/>
          <p:nvPr/>
        </p:nvSpPr>
        <p:spPr>
          <a:xfrm>
            <a:off x="6675120" y="4398264"/>
            <a:ext cx="4892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A30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D2A30"/>
                </a:solidFill>
                <a:latin typeface="Calibri"/>
                <a:ea typeface="Calibri"/>
                <a:cs typeface="Calibri"/>
                <a:sym typeface="Calibri"/>
              </a:rPr>
              <a:t>FOOD &amp; FMCG MANUFACTURING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6"/>
          <p:cNvSpPr txBox="1"/>
          <p:nvPr/>
        </p:nvSpPr>
        <p:spPr>
          <a:xfrm>
            <a:off x="6675120" y="4690872"/>
            <a:ext cx="4892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B86"/>
                </a:solidFill>
                <a:latin typeface="Calibri"/>
                <a:ea typeface="Calibri"/>
                <a:cs typeface="Calibri"/>
                <a:sym typeface="Calibri"/>
              </a:rPr>
              <a:t>Food Processing · FMCG Plants · Packaging · Cold-Chain Manufacturing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3" name="Google Shape;193;p6"/>
          <p:cNvCxnSpPr/>
          <p:nvPr/>
        </p:nvCxnSpPr>
        <p:spPr>
          <a:xfrm>
            <a:off x="548640" y="5449824"/>
            <a:ext cx="11064240" cy="0"/>
          </a:xfrm>
          <a:prstGeom prst="straightConnector1">
            <a:avLst/>
          </a:prstGeom>
          <a:noFill/>
          <a:ln cap="flat" cmpd="sng" w="12700">
            <a:solidFill>
              <a:srgbClr val="E8EAEC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icons/bolt_orange.png" id="194" name="Google Shape;194;p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48640" y="5596128"/>
            <a:ext cx="310896" cy="310896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6"/>
          <p:cNvSpPr txBox="1"/>
          <p:nvPr/>
        </p:nvSpPr>
        <p:spPr>
          <a:xfrm>
            <a:off x="1005840" y="5522976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A30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1D2A30"/>
                </a:solidFill>
                <a:latin typeface="Calibri"/>
                <a:ea typeface="Calibri"/>
                <a:cs typeface="Calibri"/>
                <a:sym typeface="Calibri"/>
              </a:rPr>
              <a:t>INDUSTRY 4.0, SMART FACTORY &amp; IIoT TECHNOLOGY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6"/>
          <p:cNvSpPr txBox="1"/>
          <p:nvPr/>
        </p:nvSpPr>
        <p:spPr>
          <a:xfrm>
            <a:off x="1005840" y="5815584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B86"/>
                </a:solidFill>
                <a:latin typeface="Calibri"/>
                <a:ea typeface="Calibri"/>
                <a:cs typeface="Calibri"/>
                <a:sym typeface="Calibri"/>
              </a:rPr>
              <a:t>Smart Manufacturing Platforms · IIoT &amp; Sensors · Digital Twin · MES/SCADA Software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6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B86"/>
                </a:solidFill>
                <a:latin typeface="Calibri"/>
                <a:ea typeface="Calibri"/>
                <a:cs typeface="Calibri"/>
                <a:sym typeface="Calibri"/>
              </a:rPr>
              <a:t>B2B Account Profiling Project — Manufacturing &amp; Industrial Automation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6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B8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B86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7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630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8630A"/>
                </a:solidFill>
                <a:latin typeface="Calibri"/>
                <a:ea typeface="Calibri"/>
                <a:cs typeface="Calibri"/>
                <a:sym typeface="Calibri"/>
              </a:rPr>
              <a:t>FUNCTIONAL SEGMENTATION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7"/>
          <p:cNvSpPr txBox="1"/>
          <p:nvPr/>
        </p:nvSpPr>
        <p:spPr>
          <a:xfrm>
            <a:off x="548640" y="713232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A30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D2A30"/>
                </a:solidFill>
                <a:latin typeface="Cambria"/>
                <a:ea typeface="Cambria"/>
                <a:cs typeface="Cambria"/>
                <a:sym typeface="Cambria"/>
              </a:rPr>
              <a:t>Department-Wise Distribution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 txBox="1"/>
          <p:nvPr/>
        </p:nvSpPr>
        <p:spPr>
          <a:xfrm>
            <a:off x="548640" y="1298448"/>
            <a:ext cx="10515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6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B86"/>
                </a:solidFill>
                <a:latin typeface="Calibri"/>
                <a:ea typeface="Calibri"/>
                <a:cs typeface="Calibri"/>
                <a:sym typeface="Calibri"/>
              </a:rPr>
              <a:t>2,800 verified contacts, segmented by department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7"/>
          <p:cNvSpPr txBox="1"/>
          <p:nvPr/>
        </p:nvSpPr>
        <p:spPr>
          <a:xfrm>
            <a:off x="548640" y="1691640"/>
            <a:ext cx="4297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A3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D2A30"/>
                </a:solidFill>
                <a:latin typeface="Calibri"/>
                <a:ea typeface="Calibri"/>
                <a:cs typeface="Calibri"/>
                <a:sym typeface="Calibri"/>
              </a:rPr>
              <a:t>Procurement &amp; Sourcing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 txBox="1"/>
          <p:nvPr/>
        </p:nvSpPr>
        <p:spPr>
          <a:xfrm>
            <a:off x="548640" y="1965960"/>
            <a:ext cx="4297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B86"/>
                </a:solidFill>
                <a:latin typeface="Calibri"/>
                <a:ea typeface="Calibri"/>
                <a:cs typeface="Calibri"/>
                <a:sym typeface="Calibri"/>
              </a:rPr>
              <a:t>CPOs, VP Procurement, Head of Sourcing, Category Heads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5029200" y="1746504"/>
            <a:ext cx="5486400" cy="310896"/>
          </a:xfrm>
          <a:prstGeom prst="rect">
            <a:avLst/>
          </a:prstGeom>
          <a:solidFill>
            <a:srgbClr val="E8EA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7"/>
          <p:cNvSpPr/>
          <p:nvPr/>
        </p:nvSpPr>
        <p:spPr>
          <a:xfrm>
            <a:off x="5029200" y="1746504"/>
            <a:ext cx="5486400" cy="310896"/>
          </a:xfrm>
          <a:prstGeom prst="rect">
            <a:avLst/>
          </a:prstGeom>
          <a:solidFill>
            <a:srgbClr val="E863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7"/>
          <p:cNvSpPr txBox="1"/>
          <p:nvPr/>
        </p:nvSpPr>
        <p:spPr>
          <a:xfrm>
            <a:off x="10625328" y="1673352"/>
            <a:ext cx="1417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A30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D2A30"/>
                </a:solidFill>
                <a:latin typeface="Calibri"/>
                <a:ea typeface="Calibri"/>
                <a:cs typeface="Calibri"/>
                <a:sym typeface="Calibri"/>
              </a:rPr>
              <a:t>840  ·  30.0%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7"/>
          <p:cNvSpPr txBox="1"/>
          <p:nvPr/>
        </p:nvSpPr>
        <p:spPr>
          <a:xfrm>
            <a:off x="548640" y="2606040"/>
            <a:ext cx="4297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A3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D2A30"/>
                </a:solidFill>
                <a:latin typeface="Calibri"/>
                <a:ea typeface="Calibri"/>
                <a:cs typeface="Calibri"/>
                <a:sym typeface="Calibri"/>
              </a:rPr>
              <a:t>Supply Chain &amp; Logistics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7"/>
          <p:cNvSpPr txBox="1"/>
          <p:nvPr/>
        </p:nvSpPr>
        <p:spPr>
          <a:xfrm>
            <a:off x="548640" y="2880360"/>
            <a:ext cx="4297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B86"/>
                </a:solidFill>
                <a:latin typeface="Calibri"/>
                <a:ea typeface="Calibri"/>
                <a:cs typeface="Calibri"/>
                <a:sym typeface="Calibri"/>
              </a:rPr>
              <a:t>VP Supply Chain, Head of Logistics, Head of Planning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7"/>
          <p:cNvSpPr/>
          <p:nvPr/>
        </p:nvSpPr>
        <p:spPr>
          <a:xfrm>
            <a:off x="5029200" y="2660904"/>
            <a:ext cx="5486400" cy="310896"/>
          </a:xfrm>
          <a:prstGeom prst="rect">
            <a:avLst/>
          </a:prstGeom>
          <a:solidFill>
            <a:srgbClr val="E8EA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7"/>
          <p:cNvSpPr/>
          <p:nvPr/>
        </p:nvSpPr>
        <p:spPr>
          <a:xfrm>
            <a:off x="5029200" y="2660904"/>
            <a:ext cx="4572000" cy="310896"/>
          </a:xfrm>
          <a:prstGeom prst="rect">
            <a:avLst/>
          </a:prstGeom>
          <a:solidFill>
            <a:srgbClr val="4A6F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7"/>
          <p:cNvSpPr txBox="1"/>
          <p:nvPr/>
        </p:nvSpPr>
        <p:spPr>
          <a:xfrm>
            <a:off x="10625328" y="2587752"/>
            <a:ext cx="1417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A30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D2A30"/>
                </a:solidFill>
                <a:latin typeface="Calibri"/>
                <a:ea typeface="Calibri"/>
                <a:cs typeface="Calibri"/>
                <a:sym typeface="Calibri"/>
              </a:rPr>
              <a:t>700  ·  25.0%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7"/>
          <p:cNvSpPr txBox="1"/>
          <p:nvPr/>
        </p:nvSpPr>
        <p:spPr>
          <a:xfrm>
            <a:off x="548640" y="3520440"/>
            <a:ext cx="4297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A3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D2A30"/>
                </a:solidFill>
                <a:latin typeface="Calibri"/>
                <a:ea typeface="Calibri"/>
                <a:cs typeface="Calibri"/>
                <a:sym typeface="Calibri"/>
              </a:rPr>
              <a:t>Manufacturing &amp; Plant Ops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7"/>
          <p:cNvSpPr txBox="1"/>
          <p:nvPr/>
        </p:nvSpPr>
        <p:spPr>
          <a:xfrm>
            <a:off x="548640" y="3794760"/>
            <a:ext cx="4297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B86"/>
                </a:solidFill>
                <a:latin typeface="Calibri"/>
                <a:ea typeface="Calibri"/>
                <a:cs typeface="Calibri"/>
                <a:sym typeface="Calibri"/>
              </a:rPr>
              <a:t>Plant Heads, VP Operations, Head of Production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5029200" y="3575304"/>
            <a:ext cx="5486400" cy="310896"/>
          </a:xfrm>
          <a:prstGeom prst="rect">
            <a:avLst/>
          </a:prstGeom>
          <a:solidFill>
            <a:srgbClr val="E8EA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7"/>
          <p:cNvSpPr/>
          <p:nvPr/>
        </p:nvSpPr>
        <p:spPr>
          <a:xfrm>
            <a:off x="5029200" y="3575304"/>
            <a:ext cx="3657600" cy="310896"/>
          </a:xfrm>
          <a:prstGeom prst="rect">
            <a:avLst/>
          </a:prstGeom>
          <a:solidFill>
            <a:srgbClr val="4A6F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7"/>
          <p:cNvSpPr txBox="1"/>
          <p:nvPr/>
        </p:nvSpPr>
        <p:spPr>
          <a:xfrm>
            <a:off x="10625328" y="3502152"/>
            <a:ext cx="1417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A30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D2A30"/>
                </a:solidFill>
                <a:latin typeface="Calibri"/>
                <a:ea typeface="Calibri"/>
                <a:cs typeface="Calibri"/>
                <a:sym typeface="Calibri"/>
              </a:rPr>
              <a:t>560  ·  20.0%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7"/>
          <p:cNvSpPr txBox="1"/>
          <p:nvPr/>
        </p:nvSpPr>
        <p:spPr>
          <a:xfrm>
            <a:off x="548640" y="4434840"/>
            <a:ext cx="4297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A3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D2A30"/>
                </a:solidFill>
                <a:latin typeface="Calibri"/>
                <a:ea typeface="Calibri"/>
                <a:cs typeface="Calibri"/>
                <a:sym typeface="Calibri"/>
              </a:rPr>
              <a:t>Quality &amp; Compliance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7"/>
          <p:cNvSpPr txBox="1"/>
          <p:nvPr/>
        </p:nvSpPr>
        <p:spPr>
          <a:xfrm>
            <a:off x="548640" y="4709160"/>
            <a:ext cx="4297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B86"/>
                </a:solidFill>
                <a:latin typeface="Calibri"/>
                <a:ea typeface="Calibri"/>
                <a:cs typeface="Calibri"/>
                <a:sym typeface="Calibri"/>
              </a:rPr>
              <a:t>Head of QA/QC, VP Compliance, Head of Regulatory Affairs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7"/>
          <p:cNvSpPr/>
          <p:nvPr/>
        </p:nvSpPr>
        <p:spPr>
          <a:xfrm>
            <a:off x="5029200" y="4489704"/>
            <a:ext cx="5486400" cy="310896"/>
          </a:xfrm>
          <a:prstGeom prst="rect">
            <a:avLst/>
          </a:prstGeom>
          <a:solidFill>
            <a:srgbClr val="E8EA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7"/>
          <p:cNvSpPr/>
          <p:nvPr/>
        </p:nvSpPr>
        <p:spPr>
          <a:xfrm>
            <a:off x="5029200" y="4489704"/>
            <a:ext cx="2743200" cy="310896"/>
          </a:xfrm>
          <a:prstGeom prst="rect">
            <a:avLst/>
          </a:prstGeom>
          <a:solidFill>
            <a:srgbClr val="4A6F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7"/>
          <p:cNvSpPr txBox="1"/>
          <p:nvPr/>
        </p:nvSpPr>
        <p:spPr>
          <a:xfrm>
            <a:off x="10625328" y="4416552"/>
            <a:ext cx="1417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A30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D2A30"/>
                </a:solidFill>
                <a:latin typeface="Calibri"/>
                <a:ea typeface="Calibri"/>
                <a:cs typeface="Calibri"/>
                <a:sym typeface="Calibri"/>
              </a:rPr>
              <a:t>420  ·  15.0%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7"/>
          <p:cNvSpPr txBox="1"/>
          <p:nvPr/>
        </p:nvSpPr>
        <p:spPr>
          <a:xfrm>
            <a:off x="548640" y="5349240"/>
            <a:ext cx="4297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A3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D2A30"/>
                </a:solidFill>
                <a:latin typeface="Calibri"/>
                <a:ea typeface="Calibri"/>
                <a:cs typeface="Calibri"/>
                <a:sym typeface="Calibri"/>
              </a:rPr>
              <a:t>Digital &amp; Industry 4.0 Tech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7"/>
          <p:cNvSpPr txBox="1"/>
          <p:nvPr/>
        </p:nvSpPr>
        <p:spPr>
          <a:xfrm>
            <a:off x="548640" y="5623560"/>
            <a:ext cx="4297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6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B7B86"/>
                </a:solidFill>
                <a:latin typeface="Calibri"/>
                <a:ea typeface="Calibri"/>
                <a:cs typeface="Calibri"/>
                <a:sym typeface="Calibri"/>
              </a:rPr>
              <a:t>Head of Digital Mfg., VP Automation, Head of Smart Factory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7"/>
          <p:cNvSpPr/>
          <p:nvPr/>
        </p:nvSpPr>
        <p:spPr>
          <a:xfrm>
            <a:off x="5029200" y="5404104"/>
            <a:ext cx="5486400" cy="310896"/>
          </a:xfrm>
          <a:prstGeom prst="rect">
            <a:avLst/>
          </a:prstGeom>
          <a:solidFill>
            <a:srgbClr val="E8EA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7"/>
          <p:cNvSpPr/>
          <p:nvPr/>
        </p:nvSpPr>
        <p:spPr>
          <a:xfrm>
            <a:off x="5029200" y="5404104"/>
            <a:ext cx="1828800" cy="310896"/>
          </a:xfrm>
          <a:prstGeom prst="rect">
            <a:avLst/>
          </a:prstGeom>
          <a:solidFill>
            <a:srgbClr val="4A6F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7"/>
          <p:cNvSpPr txBox="1"/>
          <p:nvPr/>
        </p:nvSpPr>
        <p:spPr>
          <a:xfrm>
            <a:off x="10625328" y="5330952"/>
            <a:ext cx="1417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A30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1D2A30"/>
                </a:solidFill>
                <a:latin typeface="Calibri"/>
                <a:ea typeface="Calibri"/>
                <a:cs typeface="Calibri"/>
                <a:sym typeface="Calibri"/>
              </a:rPr>
              <a:t>280  ·  10.0%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7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B86"/>
                </a:solidFill>
                <a:latin typeface="Calibri"/>
                <a:ea typeface="Calibri"/>
                <a:cs typeface="Calibri"/>
                <a:sym typeface="Calibri"/>
              </a:rPr>
              <a:t>B2B Account Profiling Project — Manufacturing &amp; Industrial Automation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7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B8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B86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8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630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8630A"/>
                </a:solidFill>
                <a:latin typeface="Calibri"/>
                <a:ea typeface="Calibri"/>
                <a:cs typeface="Calibri"/>
                <a:sym typeface="Calibri"/>
              </a:rPr>
              <a:t>METHODOLOGY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8"/>
          <p:cNvSpPr txBox="1"/>
          <p:nvPr/>
        </p:nvSpPr>
        <p:spPr>
          <a:xfrm>
            <a:off x="548640" y="713232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A30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D2A30"/>
                </a:solidFill>
                <a:latin typeface="Cambria"/>
                <a:ea typeface="Cambria"/>
                <a:cs typeface="Cambria"/>
                <a:sym typeface="Cambria"/>
              </a:rPr>
              <a:t>Data Profiling &amp; Validation Process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8"/>
          <p:cNvSpPr/>
          <p:nvPr/>
        </p:nvSpPr>
        <p:spPr>
          <a:xfrm>
            <a:off x="548640" y="1691640"/>
            <a:ext cx="5349240" cy="2148840"/>
          </a:xfrm>
          <a:prstGeom prst="roundRect">
            <a:avLst>
              <a:gd fmla="val 3404" name="adj"/>
            </a:avLst>
          </a:prstGeom>
          <a:solidFill>
            <a:srgbClr val="F5F6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8"/>
          <p:cNvSpPr txBox="1"/>
          <p:nvPr/>
        </p:nvSpPr>
        <p:spPr>
          <a:xfrm>
            <a:off x="822960" y="1874520"/>
            <a:ext cx="1188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AEC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E8EAEC"/>
                </a:solidFill>
                <a:latin typeface="Cambria"/>
                <a:ea typeface="Cambria"/>
                <a:cs typeface="Cambria"/>
                <a:sym typeface="Cambria"/>
              </a:rPr>
              <a:t>01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8"/>
          <p:cNvSpPr/>
          <p:nvPr/>
        </p:nvSpPr>
        <p:spPr>
          <a:xfrm>
            <a:off x="822960" y="1874520"/>
            <a:ext cx="54864" cy="54864"/>
          </a:xfrm>
          <a:prstGeom prst="ellipse">
            <a:avLst/>
          </a:prstGeom>
          <a:solidFill>
            <a:srgbClr val="E863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8"/>
          <p:cNvSpPr txBox="1"/>
          <p:nvPr/>
        </p:nvSpPr>
        <p:spPr>
          <a:xfrm>
            <a:off x="822960" y="2560320"/>
            <a:ext cx="4800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A30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D2A30"/>
                </a:solidFill>
                <a:latin typeface="Calibri"/>
                <a:ea typeface="Calibri"/>
                <a:cs typeface="Calibri"/>
                <a:sym typeface="Calibri"/>
              </a:rPr>
              <a:t>Brief &amp; Criteria Definition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8"/>
          <p:cNvSpPr txBox="1"/>
          <p:nvPr/>
        </p:nvSpPr>
        <p:spPr>
          <a:xfrm>
            <a:off x="822960" y="2971800"/>
            <a:ext cx="4800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B86"/>
                </a:solidFill>
                <a:latin typeface="Calibri"/>
                <a:ea typeface="Calibri"/>
                <a:cs typeface="Calibri"/>
                <a:sym typeface="Calibri"/>
              </a:rPr>
              <a:t>Received client brief for a manufacturing technology event — targeting Procurement, Supply Chain &amp; Plant Ops leaders at Head-of-Function level and above, in mid-market (200–1,000 employee) manufacturing accounts in Pune.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8"/>
          <p:cNvSpPr/>
          <p:nvPr/>
        </p:nvSpPr>
        <p:spPr>
          <a:xfrm>
            <a:off x="6217920" y="1691640"/>
            <a:ext cx="5349240" cy="2148840"/>
          </a:xfrm>
          <a:prstGeom prst="roundRect">
            <a:avLst>
              <a:gd fmla="val 3404" name="adj"/>
            </a:avLst>
          </a:prstGeom>
          <a:solidFill>
            <a:srgbClr val="F5F6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8"/>
          <p:cNvSpPr txBox="1"/>
          <p:nvPr/>
        </p:nvSpPr>
        <p:spPr>
          <a:xfrm>
            <a:off x="6492240" y="1874520"/>
            <a:ext cx="1188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AEC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E8EAEC"/>
                </a:solidFill>
                <a:latin typeface="Cambria"/>
                <a:ea typeface="Cambria"/>
                <a:cs typeface="Cambria"/>
                <a:sym typeface="Cambria"/>
              </a:rPr>
              <a:t>02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8"/>
          <p:cNvSpPr/>
          <p:nvPr/>
        </p:nvSpPr>
        <p:spPr>
          <a:xfrm>
            <a:off x="6492240" y="1874520"/>
            <a:ext cx="54864" cy="54864"/>
          </a:xfrm>
          <a:prstGeom prst="ellipse">
            <a:avLst/>
          </a:prstGeom>
          <a:solidFill>
            <a:srgbClr val="E863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8"/>
          <p:cNvSpPr txBox="1"/>
          <p:nvPr/>
        </p:nvSpPr>
        <p:spPr>
          <a:xfrm>
            <a:off x="6492240" y="2560320"/>
            <a:ext cx="4800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A30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D2A30"/>
                </a:solidFill>
                <a:latin typeface="Calibri"/>
                <a:ea typeface="Calibri"/>
                <a:cs typeface="Calibri"/>
                <a:sym typeface="Calibri"/>
              </a:rPr>
              <a:t>Data Extraction via LinkedIn Sales Navigator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8"/>
          <p:cNvSpPr txBox="1"/>
          <p:nvPr/>
        </p:nvSpPr>
        <p:spPr>
          <a:xfrm>
            <a:off x="6492240" y="2971800"/>
            <a:ext cx="4800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B86"/>
                </a:solidFill>
                <a:latin typeface="Calibri"/>
                <a:ea typeface="Calibri"/>
                <a:cs typeface="Calibri"/>
                <a:sym typeface="Calibri"/>
              </a:rPr>
              <a:t>Applied precise filters — function-specific job titles, employee-size bands, industry vertical, and geography (Pune). Supplemented using Lusha, Apollo, and SalesQL.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8"/>
          <p:cNvSpPr/>
          <p:nvPr/>
        </p:nvSpPr>
        <p:spPr>
          <a:xfrm>
            <a:off x="548640" y="4114800"/>
            <a:ext cx="5349240" cy="2148840"/>
          </a:xfrm>
          <a:prstGeom prst="roundRect">
            <a:avLst>
              <a:gd fmla="val 3404" name="adj"/>
            </a:avLst>
          </a:prstGeom>
          <a:solidFill>
            <a:srgbClr val="F5F6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8"/>
          <p:cNvSpPr txBox="1"/>
          <p:nvPr/>
        </p:nvSpPr>
        <p:spPr>
          <a:xfrm>
            <a:off x="822960" y="4297680"/>
            <a:ext cx="1188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AEC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E8EAEC"/>
                </a:solidFill>
                <a:latin typeface="Cambria"/>
                <a:ea typeface="Cambria"/>
                <a:cs typeface="Cambria"/>
                <a:sym typeface="Cambria"/>
              </a:rPr>
              <a:t>03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8"/>
          <p:cNvSpPr/>
          <p:nvPr/>
        </p:nvSpPr>
        <p:spPr>
          <a:xfrm>
            <a:off x="822960" y="4297680"/>
            <a:ext cx="54864" cy="54864"/>
          </a:xfrm>
          <a:prstGeom prst="ellipse">
            <a:avLst/>
          </a:prstGeom>
          <a:solidFill>
            <a:srgbClr val="E863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8"/>
          <p:cNvSpPr txBox="1"/>
          <p:nvPr/>
        </p:nvSpPr>
        <p:spPr>
          <a:xfrm>
            <a:off x="822960" y="4983480"/>
            <a:ext cx="4800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A30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D2A30"/>
                </a:solidFill>
                <a:latin typeface="Calibri"/>
                <a:ea typeface="Calibri"/>
                <a:cs typeface="Calibri"/>
                <a:sym typeface="Calibri"/>
              </a:rPr>
              <a:t>Data Cleaning &amp; Standardization in Excel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8"/>
          <p:cNvSpPr txBox="1"/>
          <p:nvPr/>
        </p:nvSpPr>
        <p:spPr>
          <a:xfrm>
            <a:off x="822960" y="5394960"/>
            <a:ext cx="4800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B86"/>
                </a:solidFill>
                <a:latin typeface="Calibri"/>
                <a:ea typeface="Calibri"/>
                <a:cs typeface="Calibri"/>
                <a:sym typeface="Calibri"/>
              </a:rPr>
              <a:t>Cleaned, structured, and standardized all 2,800 contact records — spanning 700 target accounts — in Microsoft Excel. Removed duplicates, corrected title inconsistencies, organized by function, seniority, and account tier.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8"/>
          <p:cNvSpPr/>
          <p:nvPr/>
        </p:nvSpPr>
        <p:spPr>
          <a:xfrm>
            <a:off x="6217920" y="4114800"/>
            <a:ext cx="5349240" cy="2148840"/>
          </a:xfrm>
          <a:prstGeom prst="roundRect">
            <a:avLst>
              <a:gd fmla="val 3404" name="adj"/>
            </a:avLst>
          </a:prstGeom>
          <a:solidFill>
            <a:srgbClr val="F5F6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8"/>
          <p:cNvSpPr txBox="1"/>
          <p:nvPr/>
        </p:nvSpPr>
        <p:spPr>
          <a:xfrm>
            <a:off x="6492240" y="4297680"/>
            <a:ext cx="11887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AEC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E8EAEC"/>
                </a:solidFill>
                <a:latin typeface="Cambria"/>
                <a:ea typeface="Cambria"/>
                <a:cs typeface="Cambria"/>
                <a:sym typeface="Cambria"/>
              </a:rPr>
              <a:t>04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8"/>
          <p:cNvSpPr/>
          <p:nvPr/>
        </p:nvSpPr>
        <p:spPr>
          <a:xfrm>
            <a:off x="6492240" y="4297680"/>
            <a:ext cx="54864" cy="54864"/>
          </a:xfrm>
          <a:prstGeom prst="ellipse">
            <a:avLst/>
          </a:prstGeom>
          <a:solidFill>
            <a:srgbClr val="E8630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8"/>
          <p:cNvSpPr txBox="1"/>
          <p:nvPr/>
        </p:nvSpPr>
        <p:spPr>
          <a:xfrm>
            <a:off x="6492240" y="4983480"/>
            <a:ext cx="4800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A30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D2A30"/>
                </a:solidFill>
                <a:latin typeface="Calibri"/>
                <a:ea typeface="Calibri"/>
                <a:cs typeface="Calibri"/>
                <a:sym typeface="Calibri"/>
              </a:rPr>
              <a:t>Validation &amp; Enrichment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8"/>
          <p:cNvSpPr txBox="1"/>
          <p:nvPr/>
        </p:nvSpPr>
        <p:spPr>
          <a:xfrm>
            <a:off x="6492240" y="5394960"/>
            <a:ext cx="4800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B86"/>
                </a:solidFill>
                <a:latin typeface="Calibri"/>
                <a:ea typeface="Calibri"/>
                <a:cs typeface="Calibri"/>
                <a:sym typeface="Calibri"/>
              </a:rPr>
              <a:t>Cross-validated contact details and firmographic data using Seamless.AI, ContactOut, and Apollo — ensuring clean, enriched, CRM-ready records for focused account-based outreach.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8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B86"/>
                </a:solidFill>
                <a:latin typeface="Calibri"/>
                <a:ea typeface="Calibri"/>
                <a:cs typeface="Calibri"/>
                <a:sym typeface="Calibri"/>
              </a:rPr>
              <a:t>B2B Account Profiling Project — Manufacturing &amp; Industrial Automation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8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B8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B86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9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630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8630A"/>
                </a:solidFill>
                <a:latin typeface="Calibri"/>
                <a:ea typeface="Calibri"/>
                <a:cs typeface="Calibri"/>
                <a:sym typeface="Calibri"/>
              </a:rPr>
              <a:t>TOOLS &amp; TECHNOLOGY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9"/>
          <p:cNvSpPr txBox="1"/>
          <p:nvPr/>
        </p:nvSpPr>
        <p:spPr>
          <a:xfrm>
            <a:off x="548640" y="713232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A30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D2A30"/>
                </a:solidFill>
                <a:latin typeface="Cambria"/>
                <a:ea typeface="Cambria"/>
                <a:cs typeface="Cambria"/>
                <a:sym typeface="Cambria"/>
              </a:rPr>
              <a:t>Stack Used for This Project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9"/>
          <p:cNvSpPr/>
          <p:nvPr/>
        </p:nvSpPr>
        <p:spPr>
          <a:xfrm>
            <a:off x="548640" y="1691640"/>
            <a:ext cx="5349240" cy="2011680"/>
          </a:xfrm>
          <a:prstGeom prst="roundRect">
            <a:avLst>
              <a:gd fmla="val 3636" name="adj"/>
            </a:avLst>
          </a:prstGeom>
          <a:solidFill>
            <a:srgbClr val="F5F6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9"/>
          <p:cNvSpPr/>
          <p:nvPr/>
        </p:nvSpPr>
        <p:spPr>
          <a:xfrm>
            <a:off x="822960" y="1920240"/>
            <a:ext cx="502920" cy="502920"/>
          </a:xfrm>
          <a:prstGeom prst="ellipse">
            <a:avLst/>
          </a:prstGeom>
          <a:solidFill>
            <a:srgbClr val="2B3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search_orange.png" id="272" name="Google Shape;27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1832" y="2039112"/>
            <a:ext cx="265176" cy="265176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9"/>
          <p:cNvSpPr txBox="1"/>
          <p:nvPr/>
        </p:nvSpPr>
        <p:spPr>
          <a:xfrm>
            <a:off x="1508760" y="2011680"/>
            <a:ext cx="4160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A3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D2A30"/>
                </a:solidFill>
                <a:latin typeface="Calibri"/>
                <a:ea typeface="Calibri"/>
                <a:cs typeface="Calibri"/>
                <a:sym typeface="Calibri"/>
              </a:rPr>
              <a:t>DATA DISCOVERY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9"/>
          <p:cNvSpPr txBox="1"/>
          <p:nvPr/>
        </p:nvSpPr>
        <p:spPr>
          <a:xfrm>
            <a:off x="822960" y="2606040"/>
            <a:ext cx="480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6B7B86"/>
              </a:buClr>
              <a:buSzPts val="1150"/>
              <a:buFont typeface="Calibri"/>
              <a:buChar char="●"/>
            </a:pPr>
            <a:r>
              <a:rPr b="0" i="0" lang="en-US" sz="1150" u="none" cap="none" strike="noStrike">
                <a:solidFill>
                  <a:srgbClr val="6B7B86"/>
                </a:solidFill>
                <a:latin typeface="Calibri"/>
                <a:ea typeface="Calibri"/>
                <a:cs typeface="Calibri"/>
                <a:sym typeface="Calibri"/>
              </a:rPr>
              <a:t>LinkedIn Sales Navigator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spcBef>
                <a:spcPts val="600"/>
              </a:spcBef>
              <a:spcAft>
                <a:spcPts val="0"/>
              </a:spcAft>
              <a:buClr>
                <a:srgbClr val="6B7B86"/>
              </a:buClr>
              <a:buSzPts val="1150"/>
              <a:buFont typeface="Calibri"/>
              <a:buChar char="●"/>
            </a:pPr>
            <a:r>
              <a:rPr b="0" i="0" lang="en-US" sz="1150" u="none" cap="none" strike="noStrike">
                <a:solidFill>
                  <a:srgbClr val="6B7B86"/>
                </a:solidFill>
                <a:latin typeface="Calibri"/>
                <a:ea typeface="Calibri"/>
                <a:cs typeface="Calibri"/>
                <a:sym typeface="Calibri"/>
              </a:rPr>
              <a:t>Lusha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spcBef>
                <a:spcPts val="600"/>
              </a:spcBef>
              <a:spcAft>
                <a:spcPts val="0"/>
              </a:spcAft>
              <a:buClr>
                <a:srgbClr val="6B7B86"/>
              </a:buClr>
              <a:buSzPts val="1150"/>
              <a:buFont typeface="Calibri"/>
              <a:buChar char="●"/>
            </a:pPr>
            <a:r>
              <a:rPr b="0" i="0" lang="en-US" sz="1150" u="none" cap="none" strike="noStrike">
                <a:solidFill>
                  <a:srgbClr val="6B7B86"/>
                </a:solidFill>
                <a:latin typeface="Calibri"/>
                <a:ea typeface="Calibri"/>
                <a:cs typeface="Calibri"/>
                <a:sym typeface="Calibri"/>
              </a:rPr>
              <a:t>Apollo.io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spcBef>
                <a:spcPts val="600"/>
              </a:spcBef>
              <a:spcAft>
                <a:spcPts val="0"/>
              </a:spcAft>
              <a:buClr>
                <a:srgbClr val="6B7B86"/>
              </a:buClr>
              <a:buSzPts val="1150"/>
              <a:buFont typeface="Calibri"/>
              <a:buChar char="●"/>
            </a:pPr>
            <a:r>
              <a:rPr b="0" i="0" lang="en-US" sz="1150" u="none" cap="none" strike="noStrike">
                <a:solidFill>
                  <a:srgbClr val="6B7B86"/>
                </a:solidFill>
                <a:latin typeface="Calibri"/>
                <a:ea typeface="Calibri"/>
                <a:cs typeface="Calibri"/>
                <a:sym typeface="Calibri"/>
              </a:rPr>
              <a:t>SalesQL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9"/>
          <p:cNvSpPr/>
          <p:nvPr/>
        </p:nvSpPr>
        <p:spPr>
          <a:xfrm>
            <a:off x="6217920" y="1691640"/>
            <a:ext cx="5349240" cy="2011680"/>
          </a:xfrm>
          <a:prstGeom prst="roundRect">
            <a:avLst>
              <a:gd fmla="val 3636" name="adj"/>
            </a:avLst>
          </a:prstGeom>
          <a:solidFill>
            <a:srgbClr val="F5F6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9"/>
          <p:cNvSpPr/>
          <p:nvPr/>
        </p:nvSpPr>
        <p:spPr>
          <a:xfrm>
            <a:off x="6492240" y="1920240"/>
            <a:ext cx="502920" cy="502920"/>
          </a:xfrm>
          <a:prstGeom prst="ellipse">
            <a:avLst/>
          </a:prstGeom>
          <a:solidFill>
            <a:srgbClr val="2B3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shield_orange.png" id="277" name="Google Shape;277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11112" y="2039112"/>
            <a:ext cx="265176" cy="265176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9"/>
          <p:cNvSpPr txBox="1"/>
          <p:nvPr/>
        </p:nvSpPr>
        <p:spPr>
          <a:xfrm>
            <a:off x="7178040" y="2011680"/>
            <a:ext cx="4160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A3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D2A30"/>
                </a:solidFill>
                <a:latin typeface="Calibri"/>
                <a:ea typeface="Calibri"/>
                <a:cs typeface="Calibri"/>
                <a:sym typeface="Calibri"/>
              </a:rPr>
              <a:t>VALIDATION &amp; ENRICHMENT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9"/>
          <p:cNvSpPr txBox="1"/>
          <p:nvPr/>
        </p:nvSpPr>
        <p:spPr>
          <a:xfrm>
            <a:off x="6492240" y="2606040"/>
            <a:ext cx="480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6B7B86"/>
              </a:buClr>
              <a:buSzPts val="1150"/>
              <a:buFont typeface="Calibri"/>
              <a:buChar char="●"/>
            </a:pPr>
            <a:r>
              <a:rPr b="0" i="0" lang="en-US" sz="1150" u="none" cap="none" strike="noStrike">
                <a:solidFill>
                  <a:srgbClr val="6B7B86"/>
                </a:solidFill>
                <a:latin typeface="Calibri"/>
                <a:ea typeface="Calibri"/>
                <a:cs typeface="Calibri"/>
                <a:sym typeface="Calibri"/>
              </a:rPr>
              <a:t>Seamless.AI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spcBef>
                <a:spcPts val="600"/>
              </a:spcBef>
              <a:spcAft>
                <a:spcPts val="0"/>
              </a:spcAft>
              <a:buClr>
                <a:srgbClr val="6B7B86"/>
              </a:buClr>
              <a:buSzPts val="1150"/>
              <a:buFont typeface="Calibri"/>
              <a:buChar char="●"/>
            </a:pPr>
            <a:r>
              <a:rPr b="0" i="0" lang="en-US" sz="1150" u="none" cap="none" strike="noStrike">
                <a:solidFill>
                  <a:srgbClr val="6B7B86"/>
                </a:solidFill>
                <a:latin typeface="Calibri"/>
                <a:ea typeface="Calibri"/>
                <a:cs typeface="Calibri"/>
                <a:sym typeface="Calibri"/>
              </a:rPr>
              <a:t>ContactOut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spcBef>
                <a:spcPts val="600"/>
              </a:spcBef>
              <a:spcAft>
                <a:spcPts val="0"/>
              </a:spcAft>
              <a:buClr>
                <a:srgbClr val="6B7B86"/>
              </a:buClr>
              <a:buSzPts val="1150"/>
              <a:buFont typeface="Calibri"/>
              <a:buChar char="●"/>
            </a:pPr>
            <a:r>
              <a:rPr b="0" i="0" lang="en-US" sz="1150" u="none" cap="none" strike="noStrike">
                <a:solidFill>
                  <a:srgbClr val="6B7B86"/>
                </a:solidFill>
                <a:latin typeface="Calibri"/>
                <a:ea typeface="Calibri"/>
                <a:cs typeface="Calibri"/>
                <a:sym typeface="Calibri"/>
              </a:rPr>
              <a:t>Apollo.io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9"/>
          <p:cNvSpPr/>
          <p:nvPr/>
        </p:nvSpPr>
        <p:spPr>
          <a:xfrm>
            <a:off x="548640" y="3977640"/>
            <a:ext cx="5349240" cy="2011680"/>
          </a:xfrm>
          <a:prstGeom prst="roundRect">
            <a:avLst>
              <a:gd fmla="val 3636" name="adj"/>
            </a:avLst>
          </a:prstGeom>
          <a:solidFill>
            <a:srgbClr val="F5F6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9"/>
          <p:cNvSpPr/>
          <p:nvPr/>
        </p:nvSpPr>
        <p:spPr>
          <a:xfrm>
            <a:off x="822960" y="4206240"/>
            <a:ext cx="502920" cy="502920"/>
          </a:xfrm>
          <a:prstGeom prst="ellipse">
            <a:avLst/>
          </a:prstGeom>
          <a:solidFill>
            <a:srgbClr val="2B3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excel_orange.png" id="282" name="Google Shape;282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41832" y="4325112"/>
            <a:ext cx="265176" cy="265176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9"/>
          <p:cNvSpPr txBox="1"/>
          <p:nvPr/>
        </p:nvSpPr>
        <p:spPr>
          <a:xfrm>
            <a:off x="1508760" y="4297680"/>
            <a:ext cx="4160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A3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D2A30"/>
                </a:solidFill>
                <a:latin typeface="Calibri"/>
                <a:ea typeface="Calibri"/>
                <a:cs typeface="Calibri"/>
                <a:sym typeface="Calibri"/>
              </a:rPr>
              <a:t>DATA PROCESSING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9"/>
          <p:cNvSpPr txBox="1"/>
          <p:nvPr/>
        </p:nvSpPr>
        <p:spPr>
          <a:xfrm>
            <a:off x="822960" y="4892040"/>
            <a:ext cx="480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6B7B86"/>
              </a:buClr>
              <a:buSzPts val="1150"/>
              <a:buFont typeface="Calibri"/>
              <a:buChar char="●"/>
            </a:pPr>
            <a:r>
              <a:rPr b="0" i="0" lang="en-US" sz="1150" u="none" cap="none" strike="noStrike">
                <a:solidFill>
                  <a:srgbClr val="6B7B86"/>
                </a:solidFill>
                <a:latin typeface="Calibri"/>
                <a:ea typeface="Calibri"/>
                <a:cs typeface="Calibri"/>
                <a:sym typeface="Calibri"/>
              </a:rPr>
              <a:t>Microsoft Excel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spcBef>
                <a:spcPts val="600"/>
              </a:spcBef>
              <a:spcAft>
                <a:spcPts val="0"/>
              </a:spcAft>
              <a:buClr>
                <a:srgbClr val="6B7B86"/>
              </a:buClr>
              <a:buSzPts val="1150"/>
              <a:buFont typeface="Calibri"/>
              <a:buChar char="●"/>
            </a:pPr>
            <a:r>
              <a:rPr b="0" i="0" lang="en-US" sz="1150" u="none" cap="none" strike="noStrike">
                <a:solidFill>
                  <a:srgbClr val="6B7B86"/>
                </a:solidFill>
                <a:latin typeface="Calibri"/>
                <a:ea typeface="Calibri"/>
                <a:cs typeface="Calibri"/>
                <a:sym typeface="Calibri"/>
              </a:rPr>
              <a:t>Advanced Filters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spcBef>
                <a:spcPts val="600"/>
              </a:spcBef>
              <a:spcAft>
                <a:spcPts val="0"/>
              </a:spcAft>
              <a:buClr>
                <a:srgbClr val="6B7B86"/>
              </a:buClr>
              <a:buSzPts val="1150"/>
              <a:buFont typeface="Calibri"/>
              <a:buChar char="●"/>
            </a:pPr>
            <a:r>
              <a:rPr b="0" i="0" lang="en-US" sz="1150" u="none" cap="none" strike="noStrike">
                <a:solidFill>
                  <a:srgbClr val="6B7B86"/>
                </a:solidFill>
                <a:latin typeface="Calibri"/>
                <a:ea typeface="Calibri"/>
                <a:cs typeface="Calibri"/>
                <a:sym typeface="Calibri"/>
              </a:rPr>
              <a:t>VLOOKUP / Dedup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9"/>
          <p:cNvSpPr/>
          <p:nvPr/>
        </p:nvSpPr>
        <p:spPr>
          <a:xfrm>
            <a:off x="6217920" y="3977640"/>
            <a:ext cx="5349240" cy="2011680"/>
          </a:xfrm>
          <a:prstGeom prst="roundRect">
            <a:avLst>
              <a:gd fmla="val 3636" name="adj"/>
            </a:avLst>
          </a:prstGeom>
          <a:solidFill>
            <a:srgbClr val="F5F6F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9"/>
          <p:cNvSpPr/>
          <p:nvPr/>
        </p:nvSpPr>
        <p:spPr>
          <a:xfrm>
            <a:off x="6492240" y="4206240"/>
            <a:ext cx="502920" cy="502920"/>
          </a:xfrm>
          <a:prstGeom prst="ellipse">
            <a:avLst/>
          </a:prstGeom>
          <a:solidFill>
            <a:srgbClr val="2B3A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icons/database_orange.png" id="287" name="Google Shape;287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11112" y="4325112"/>
            <a:ext cx="265176" cy="265176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9"/>
          <p:cNvSpPr txBox="1"/>
          <p:nvPr/>
        </p:nvSpPr>
        <p:spPr>
          <a:xfrm>
            <a:off x="7178040" y="4297680"/>
            <a:ext cx="4160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A3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D2A30"/>
                </a:solidFill>
                <a:latin typeface="Calibri"/>
                <a:ea typeface="Calibri"/>
                <a:cs typeface="Calibri"/>
                <a:sym typeface="Calibri"/>
              </a:rPr>
              <a:t>CRM &amp; DISTRIBUTION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9"/>
          <p:cNvSpPr txBox="1"/>
          <p:nvPr/>
        </p:nvSpPr>
        <p:spPr>
          <a:xfrm>
            <a:off x="6492240" y="4892040"/>
            <a:ext cx="4800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152400" lvl="0" marL="152400" marR="0" rtl="0" algn="l">
              <a:spcBef>
                <a:spcPts val="0"/>
              </a:spcBef>
              <a:spcAft>
                <a:spcPts val="0"/>
              </a:spcAft>
              <a:buClr>
                <a:srgbClr val="6B7B86"/>
              </a:buClr>
              <a:buSzPts val="1150"/>
              <a:buFont typeface="Calibri"/>
              <a:buChar char="●"/>
            </a:pPr>
            <a:r>
              <a:rPr b="0" i="0" lang="en-US" sz="1150" u="none" cap="none" strike="noStrike">
                <a:solidFill>
                  <a:srgbClr val="6B7B86"/>
                </a:solidFill>
                <a:latin typeface="Calibri"/>
                <a:ea typeface="Calibri"/>
                <a:cs typeface="Calibri"/>
                <a:sym typeface="Calibri"/>
              </a:rPr>
              <a:t>CRM Upload (Client Instance)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spcBef>
                <a:spcPts val="600"/>
              </a:spcBef>
              <a:spcAft>
                <a:spcPts val="0"/>
              </a:spcAft>
              <a:buClr>
                <a:srgbClr val="6B7B86"/>
              </a:buClr>
              <a:buSzPts val="1150"/>
              <a:buFont typeface="Calibri"/>
              <a:buChar char="●"/>
            </a:pPr>
            <a:r>
              <a:rPr b="0" i="0" lang="en-US" sz="1150" u="none" cap="none" strike="noStrike">
                <a:solidFill>
                  <a:srgbClr val="6B7B86"/>
                </a:solidFill>
                <a:latin typeface="Calibri"/>
                <a:ea typeface="Calibri"/>
                <a:cs typeface="Calibri"/>
                <a:sym typeface="Calibri"/>
              </a:rPr>
              <a:t>Structured Templates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2400" lvl="0" marL="152400" marR="0" rtl="0" algn="l">
              <a:spcBef>
                <a:spcPts val="600"/>
              </a:spcBef>
              <a:spcAft>
                <a:spcPts val="0"/>
              </a:spcAft>
              <a:buClr>
                <a:srgbClr val="6B7B86"/>
              </a:buClr>
              <a:buSzPts val="1150"/>
              <a:buFont typeface="Calibri"/>
              <a:buChar char="●"/>
            </a:pPr>
            <a:r>
              <a:rPr b="0" i="0" lang="en-US" sz="1150" u="none" cap="none" strike="noStrike">
                <a:solidFill>
                  <a:srgbClr val="6B7B86"/>
                </a:solidFill>
                <a:latin typeface="Calibri"/>
                <a:ea typeface="Calibri"/>
                <a:cs typeface="Calibri"/>
                <a:sym typeface="Calibri"/>
              </a:rPr>
              <a:t>Team Circulation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9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B86"/>
                </a:solidFill>
                <a:latin typeface="Calibri"/>
                <a:ea typeface="Calibri"/>
                <a:cs typeface="Calibri"/>
                <a:sym typeface="Calibri"/>
              </a:rPr>
              <a:t>B2B Account Profiling Project — Manufacturing &amp; Industrial Automation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9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B8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B86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0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630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8630A"/>
                </a:solidFill>
                <a:latin typeface="Calibri"/>
                <a:ea typeface="Calibri"/>
                <a:cs typeface="Calibri"/>
                <a:sym typeface="Calibri"/>
              </a:rPr>
              <a:t>PROJECT OUTCOMES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0"/>
          <p:cNvSpPr txBox="1"/>
          <p:nvPr/>
        </p:nvSpPr>
        <p:spPr>
          <a:xfrm>
            <a:off x="548640" y="713232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A30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D2A30"/>
                </a:solidFill>
                <a:latin typeface="Cambria"/>
                <a:ea typeface="Cambria"/>
                <a:cs typeface="Cambria"/>
                <a:sym typeface="Cambria"/>
              </a:rPr>
              <a:t>Value Delivered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s/bullseye_orange.png" id="299" name="Google Shape;29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737360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10"/>
          <p:cNvSpPr txBox="1"/>
          <p:nvPr/>
        </p:nvSpPr>
        <p:spPr>
          <a:xfrm>
            <a:off x="1024128" y="1691640"/>
            <a:ext cx="487375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A30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D2A30"/>
                </a:solidFill>
                <a:latin typeface="Calibri"/>
                <a:ea typeface="Calibri"/>
                <a:cs typeface="Calibri"/>
                <a:sym typeface="Calibri"/>
              </a:rPr>
              <a:t>Function-Specific Precision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0"/>
          <p:cNvSpPr txBox="1"/>
          <p:nvPr/>
        </p:nvSpPr>
        <p:spPr>
          <a:xfrm>
            <a:off x="1024128" y="2002536"/>
            <a:ext cx="4873752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B86"/>
                </a:solidFill>
                <a:latin typeface="Calibri"/>
                <a:ea typeface="Calibri"/>
                <a:cs typeface="Calibri"/>
                <a:sym typeface="Calibri"/>
              </a:rPr>
              <a:t>Dataset built exclusively around Procurement, Supply Chain, Plant Ops &amp; Mfg. Technology roles — directly aligned with the event's industrial automation and IIoT exhibitor audience.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s/check_orange.png" id="302" name="Google Shape;302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17920" y="1737360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10"/>
          <p:cNvSpPr txBox="1"/>
          <p:nvPr/>
        </p:nvSpPr>
        <p:spPr>
          <a:xfrm>
            <a:off x="6693408" y="1691640"/>
            <a:ext cx="487375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A30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D2A30"/>
                </a:solidFill>
                <a:latin typeface="Calibri"/>
                <a:ea typeface="Calibri"/>
                <a:cs typeface="Calibri"/>
                <a:sym typeface="Calibri"/>
              </a:rPr>
              <a:t>High Data Accuracy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0"/>
          <p:cNvSpPr txBox="1"/>
          <p:nvPr/>
        </p:nvSpPr>
        <p:spPr>
          <a:xfrm>
            <a:off x="6693408" y="2002536"/>
            <a:ext cx="4873752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B86"/>
                </a:solidFill>
                <a:latin typeface="Calibri"/>
                <a:ea typeface="Calibri"/>
                <a:cs typeface="Calibri"/>
                <a:sym typeface="Calibri"/>
              </a:rPr>
              <a:t>Multi-tool validation ensured clean and enriched records — minimizing bounced contacts and maximizing outreach effectiveness for the client's event team.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s/city_orange.png" id="305" name="Google Shape;305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8640" y="3337560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10"/>
          <p:cNvSpPr txBox="1"/>
          <p:nvPr/>
        </p:nvSpPr>
        <p:spPr>
          <a:xfrm>
            <a:off x="1024128" y="3291840"/>
            <a:ext cx="487375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A30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D2A30"/>
                </a:solidFill>
                <a:latin typeface="Calibri"/>
                <a:ea typeface="Calibri"/>
                <a:cs typeface="Calibri"/>
                <a:sym typeface="Calibri"/>
              </a:rPr>
              <a:t>Pune Manufacturing-Belt Focus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0"/>
          <p:cNvSpPr txBox="1"/>
          <p:nvPr/>
        </p:nvSpPr>
        <p:spPr>
          <a:xfrm>
            <a:off x="1024128" y="3602736"/>
            <a:ext cx="4873752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B86"/>
                </a:solidFill>
                <a:latin typeface="Calibri"/>
                <a:ea typeface="Calibri"/>
                <a:cs typeface="Calibri"/>
                <a:sym typeface="Calibri"/>
              </a:rPr>
              <a:t>Hyper-targeted to Pune's industrial corridor — a leading manufacturing hub — ensuring maximum relevance for the client's regional event and partner messaging.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cons/layers_orange.png" id="308" name="Google Shape;308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17920" y="3337560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10"/>
          <p:cNvSpPr txBox="1"/>
          <p:nvPr/>
        </p:nvSpPr>
        <p:spPr>
          <a:xfrm>
            <a:off x="6693408" y="3291840"/>
            <a:ext cx="487375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A30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D2A30"/>
                </a:solidFill>
                <a:latin typeface="Calibri"/>
                <a:ea typeface="Calibri"/>
                <a:cs typeface="Calibri"/>
                <a:sym typeface="Calibri"/>
              </a:rPr>
              <a:t>Structured &amp; CRM-Ready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0"/>
          <p:cNvSpPr txBox="1"/>
          <p:nvPr/>
        </p:nvSpPr>
        <p:spPr>
          <a:xfrm>
            <a:off x="6693408" y="3602736"/>
            <a:ext cx="4873752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B86"/>
                </a:solidFill>
                <a:latin typeface="Calibri"/>
                <a:ea typeface="Calibri"/>
                <a:cs typeface="Calibri"/>
                <a:sym typeface="Calibri"/>
              </a:rPr>
              <a:t>All 2,800 contact records across 700 target accounts delivered in a standardized, tiered format — ready for direct CRM upload and immediate account-based campaign activation.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1" name="Google Shape;311;p10"/>
          <p:cNvCxnSpPr/>
          <p:nvPr/>
        </p:nvCxnSpPr>
        <p:spPr>
          <a:xfrm>
            <a:off x="548640" y="4754880"/>
            <a:ext cx="11064240" cy="0"/>
          </a:xfrm>
          <a:prstGeom prst="straightConnector1">
            <a:avLst/>
          </a:prstGeom>
          <a:noFill/>
          <a:ln cap="flat" cmpd="sng" w="12700">
            <a:solidFill>
              <a:srgbClr val="E8EAEC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icons/clock_orange.png" id="312" name="Google Shape;312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48640" y="4919472"/>
            <a:ext cx="329184" cy="329184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10"/>
          <p:cNvSpPr txBox="1"/>
          <p:nvPr/>
        </p:nvSpPr>
        <p:spPr>
          <a:xfrm>
            <a:off x="1024128" y="4864608"/>
            <a:ext cx="4572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2A30"/>
              </a:buClr>
              <a:buSzPts val="1350"/>
              <a:buFont typeface="Calibri"/>
              <a:buNone/>
            </a:pPr>
            <a:r>
              <a:rPr b="1" i="0" lang="en-US" sz="1350" u="none" cap="none" strike="noStrike">
                <a:solidFill>
                  <a:srgbClr val="1D2A30"/>
                </a:solidFill>
                <a:latin typeface="Calibri"/>
                <a:ea typeface="Calibri"/>
                <a:cs typeface="Calibri"/>
                <a:sym typeface="Calibri"/>
              </a:rPr>
              <a:t>Efficient Turnaround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0"/>
          <p:cNvSpPr txBox="1"/>
          <p:nvPr/>
        </p:nvSpPr>
        <p:spPr>
          <a:xfrm>
            <a:off x="1024128" y="5175504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6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6B7B86"/>
                </a:solidFill>
                <a:latin typeface="Calibri"/>
                <a:ea typeface="Calibri"/>
                <a:cs typeface="Calibri"/>
                <a:sym typeface="Calibri"/>
              </a:rPr>
              <a:t>End-to-end profiling, validation, and delivery executed within the client's timeline with no compromise on data quality or account-tier depth.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0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B86"/>
                </a:solidFill>
                <a:latin typeface="Calibri"/>
                <a:ea typeface="Calibri"/>
                <a:cs typeface="Calibri"/>
                <a:sym typeface="Calibri"/>
              </a:rPr>
              <a:t>B2B Account Profiling Project — Manufacturing &amp; Industrial Automation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0"/>
          <p:cNvSpPr txBox="1"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B8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B86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B3A42"/>
        </a:solidFill>
      </p:bgPr>
    </p:bg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1"/>
          <p:cNvSpPr txBox="1"/>
          <p:nvPr/>
        </p:nvSpPr>
        <p:spPr>
          <a:xfrm>
            <a:off x="640080" y="54864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630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8630A"/>
                </a:solidFill>
                <a:latin typeface="Calibri"/>
                <a:ea typeface="Calibri"/>
                <a:cs typeface="Calibri"/>
                <a:sym typeface="Calibri"/>
              </a:rPr>
              <a:t>PROJECT SUMMARY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1"/>
          <p:cNvSpPr txBox="1"/>
          <p:nvPr/>
        </p:nvSpPr>
        <p:spPr>
          <a:xfrm>
            <a:off x="640080" y="86868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AEC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E8EAEC"/>
                </a:solidFill>
                <a:latin typeface="Calibri"/>
                <a:ea typeface="Calibri"/>
                <a:cs typeface="Calibri"/>
                <a:sym typeface="Calibri"/>
              </a:rPr>
              <a:t>Industrial Tech Conclave — Pune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1"/>
          <p:cNvSpPr txBox="1"/>
          <p:nvPr/>
        </p:nvSpPr>
        <p:spPr>
          <a:xfrm>
            <a:off x="640080" y="1234440"/>
            <a:ext cx="100584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B2B Account Profiling — Manufacturing &amp; Industrial Automation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1"/>
          <p:cNvSpPr/>
          <p:nvPr/>
        </p:nvSpPr>
        <p:spPr>
          <a:xfrm>
            <a:off x="640080" y="2286000"/>
            <a:ext cx="2606040" cy="1554480"/>
          </a:xfrm>
          <a:prstGeom prst="rect">
            <a:avLst/>
          </a:prstGeom>
          <a:solidFill>
            <a:srgbClr val="3847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1"/>
          <p:cNvSpPr txBox="1"/>
          <p:nvPr/>
        </p:nvSpPr>
        <p:spPr>
          <a:xfrm>
            <a:off x="822960" y="2514600"/>
            <a:ext cx="2240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630A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E8630A"/>
                </a:solidFill>
                <a:latin typeface="Cambria"/>
                <a:ea typeface="Cambria"/>
                <a:cs typeface="Cambria"/>
                <a:sym typeface="Cambria"/>
              </a:rPr>
              <a:t>700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1"/>
          <p:cNvSpPr txBox="1"/>
          <p:nvPr/>
        </p:nvSpPr>
        <p:spPr>
          <a:xfrm>
            <a:off x="822960" y="3200400"/>
            <a:ext cx="2240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AE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8EAEC"/>
                </a:solidFill>
                <a:latin typeface="Calibri"/>
                <a:ea typeface="Calibri"/>
                <a:cs typeface="Calibri"/>
                <a:sym typeface="Calibri"/>
              </a:rPr>
              <a:t>Accounts (Companies)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1"/>
          <p:cNvSpPr/>
          <p:nvPr/>
        </p:nvSpPr>
        <p:spPr>
          <a:xfrm>
            <a:off x="3429000" y="2286000"/>
            <a:ext cx="2606040" cy="1554480"/>
          </a:xfrm>
          <a:prstGeom prst="rect">
            <a:avLst/>
          </a:prstGeom>
          <a:solidFill>
            <a:srgbClr val="3847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1"/>
          <p:cNvSpPr txBox="1"/>
          <p:nvPr/>
        </p:nvSpPr>
        <p:spPr>
          <a:xfrm>
            <a:off x="3611880" y="2514600"/>
            <a:ext cx="2240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630A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E8630A"/>
                </a:solidFill>
                <a:latin typeface="Cambria"/>
                <a:ea typeface="Cambria"/>
                <a:cs typeface="Cambria"/>
                <a:sym typeface="Cambria"/>
              </a:rPr>
              <a:t>2,800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1"/>
          <p:cNvSpPr txBox="1"/>
          <p:nvPr/>
        </p:nvSpPr>
        <p:spPr>
          <a:xfrm>
            <a:off x="3611880" y="3200400"/>
            <a:ext cx="2240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AE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8EAEC"/>
                </a:solidFill>
                <a:latin typeface="Calibri"/>
                <a:ea typeface="Calibri"/>
                <a:cs typeface="Calibri"/>
                <a:sym typeface="Calibri"/>
              </a:rPr>
              <a:t>Verified Contacts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1"/>
          <p:cNvSpPr/>
          <p:nvPr/>
        </p:nvSpPr>
        <p:spPr>
          <a:xfrm>
            <a:off x="6217920" y="2286000"/>
            <a:ext cx="2606040" cy="1554480"/>
          </a:xfrm>
          <a:prstGeom prst="rect">
            <a:avLst/>
          </a:prstGeom>
          <a:solidFill>
            <a:srgbClr val="3847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1"/>
          <p:cNvSpPr txBox="1"/>
          <p:nvPr/>
        </p:nvSpPr>
        <p:spPr>
          <a:xfrm>
            <a:off x="6400800" y="2514600"/>
            <a:ext cx="2240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630A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E8630A"/>
                </a:solidFill>
                <a:latin typeface="Cambria"/>
                <a:ea typeface="Cambria"/>
                <a:cs typeface="Cambria"/>
                <a:sym typeface="Cambria"/>
              </a:rPr>
              <a:t>CXO–Head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1"/>
          <p:cNvSpPr txBox="1"/>
          <p:nvPr/>
        </p:nvSpPr>
        <p:spPr>
          <a:xfrm>
            <a:off x="6400800" y="3200400"/>
            <a:ext cx="2240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AE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8EAEC"/>
                </a:solidFill>
                <a:latin typeface="Calibri"/>
                <a:ea typeface="Calibri"/>
                <a:cs typeface="Calibri"/>
                <a:sym typeface="Calibri"/>
              </a:rPr>
              <a:t>Seniority Levels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1"/>
          <p:cNvSpPr/>
          <p:nvPr/>
        </p:nvSpPr>
        <p:spPr>
          <a:xfrm>
            <a:off x="9006840" y="2286000"/>
            <a:ext cx="2606040" cy="1554480"/>
          </a:xfrm>
          <a:prstGeom prst="rect">
            <a:avLst/>
          </a:prstGeom>
          <a:solidFill>
            <a:srgbClr val="3847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1"/>
          <p:cNvSpPr txBox="1"/>
          <p:nvPr/>
        </p:nvSpPr>
        <p:spPr>
          <a:xfrm>
            <a:off x="9189720" y="2514600"/>
            <a:ext cx="2240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630A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E8630A"/>
                </a:solidFill>
                <a:latin typeface="Cambria"/>
                <a:ea typeface="Cambria"/>
                <a:cs typeface="Cambria"/>
                <a:sym typeface="Cambria"/>
              </a:rPr>
              <a:t>7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1"/>
          <p:cNvSpPr txBox="1"/>
          <p:nvPr/>
        </p:nvSpPr>
        <p:spPr>
          <a:xfrm>
            <a:off x="9189720" y="3200400"/>
            <a:ext cx="2240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AE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8EAEC"/>
                </a:solidFill>
                <a:latin typeface="Calibri"/>
                <a:ea typeface="Calibri"/>
                <a:cs typeface="Calibri"/>
                <a:sym typeface="Calibri"/>
              </a:rPr>
              <a:t>Mfg. Verticals Covered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1"/>
          <p:cNvSpPr txBox="1"/>
          <p:nvPr/>
        </p:nvSpPr>
        <p:spPr>
          <a:xfrm>
            <a:off x="640080" y="4297680"/>
            <a:ext cx="10515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8EAEC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E8EAEC"/>
                </a:solidFill>
                <a:latin typeface="Calibri"/>
                <a:ea typeface="Calibri"/>
                <a:cs typeface="Calibri"/>
                <a:sym typeface="Calibri"/>
              </a:rPr>
              <a:t>Accounts profiled, validated, and tiered for precision ABM outreach —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8EAEC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E8EAEC"/>
                </a:solidFill>
                <a:latin typeface="Calibri"/>
                <a:ea typeface="Calibri"/>
                <a:cs typeface="Calibri"/>
                <a:sym typeface="Calibri"/>
              </a:rPr>
              <a:t>ready to power the industrial technology event campaign in Pune.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8" name="Google Shape;338;p11"/>
          <p:cNvCxnSpPr/>
          <p:nvPr/>
        </p:nvCxnSpPr>
        <p:spPr>
          <a:xfrm>
            <a:off x="640080" y="5943600"/>
            <a:ext cx="10881360" cy="0"/>
          </a:xfrm>
          <a:prstGeom prst="straightConnector1">
            <a:avLst/>
          </a:prstGeom>
          <a:noFill/>
          <a:ln cap="flat" cmpd="sng" w="12700">
            <a:solidFill>
              <a:srgbClr val="4A5A6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9" name="Google Shape;339;p11"/>
          <p:cNvSpPr txBox="1"/>
          <p:nvPr/>
        </p:nvSpPr>
        <p:spPr>
          <a:xfrm>
            <a:off x="640080" y="612648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B8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B86"/>
                </a:solidFill>
                <a:latin typeface="Calibri"/>
                <a:ea typeface="Calibri"/>
                <a:cs typeface="Calibri"/>
                <a:sym typeface="Calibri"/>
              </a:rPr>
              <a:t>Prepared by  [</a:t>
            </a:r>
            <a:r>
              <a:rPr lang="en-US" sz="1100">
                <a:solidFill>
                  <a:srgbClr val="6B7B86"/>
                </a:solidFill>
                <a:latin typeface="Calibri"/>
                <a:ea typeface="Calibri"/>
                <a:cs typeface="Calibri"/>
                <a:sym typeface="Calibri"/>
              </a:rPr>
              <a:t>Niraj Pawar</a:t>
            </a:r>
            <a:r>
              <a:rPr b="0" i="0" lang="en-US" sz="1100" u="none" cap="none" strike="noStrike">
                <a:solidFill>
                  <a:srgbClr val="6B7B86"/>
                </a:solidFill>
                <a:latin typeface="Calibri"/>
                <a:ea typeface="Calibri"/>
                <a:cs typeface="Calibri"/>
                <a:sym typeface="Calibri"/>
              </a:rPr>
              <a:t>]  |  </a:t>
            </a:r>
            <a:r>
              <a:rPr lang="en-US" sz="1100">
                <a:solidFill>
                  <a:srgbClr val="6B7B86"/>
                </a:solidFill>
                <a:latin typeface="Calibri"/>
                <a:ea typeface="Calibri"/>
                <a:cs typeface="Calibri"/>
                <a:sym typeface="Calibri"/>
              </a:rPr>
              <a:t>Database &amp; Research  Executive</a:t>
            </a:r>
            <a:endParaRPr sz="1100">
              <a:solidFill>
                <a:srgbClr val="6B7B8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2026-09-22T02:42:06Z</dcterms:created>
  <dc:creator>PptxGenJS</dc:creator>
</cp:coreProperties>
</file>